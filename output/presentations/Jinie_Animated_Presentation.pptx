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37ecb6c9bd44d10" /><Relationship Type="http://schemas.openxmlformats.org/officeDocument/2006/relationships/extended-properties" Target="/docProps/app.xml" Id="R361e3fdf791b4a34" /><Relationship Type="http://schemas.openxmlformats.org/officeDocument/2006/relationships/officeDocument" Target="/ppt/presentation.xml" Id="R7656328bc12740f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42aefdd958a4dec"/>
  </p:sldMasterIdLst>
  <p:notesMasterIdLst>
    <p:notesMasterId xmlns:r="http://schemas.openxmlformats.org/officeDocument/2006/relationships" r:id="R4c61641c8ef34c22"/>
  </p:notesMasterIdLst>
  <p:sldIdLst>
    <p:sldId xmlns:r="http://schemas.openxmlformats.org/officeDocument/2006/relationships" id="256" r:id="Re75b9327e5a44fb2"/>
    <p:sldId xmlns:r="http://schemas.openxmlformats.org/officeDocument/2006/relationships" id="257" r:id="R8d47a946446044b2"/>
    <p:sldId xmlns:r="http://schemas.openxmlformats.org/officeDocument/2006/relationships" id="258" r:id="R341d1b71820d4dd6"/>
    <p:sldId xmlns:r="http://schemas.openxmlformats.org/officeDocument/2006/relationships" id="259" r:id="Rbefa08d5a3854236"/>
    <p:sldId xmlns:r="http://schemas.openxmlformats.org/officeDocument/2006/relationships" id="260" r:id="R7f0ad566b69849c5"/>
    <p:sldId xmlns:r="http://schemas.openxmlformats.org/officeDocument/2006/relationships" id="261" r:id="R8fed873ac6a04a57"/>
    <p:sldId xmlns:r="http://schemas.openxmlformats.org/officeDocument/2006/relationships" id="262" r:id="R95ed143789484bfe"/>
    <p:sldId xmlns:r="http://schemas.openxmlformats.org/officeDocument/2006/relationships" id="263" r:id="Rbe2c6e74b2bc43ab"/>
    <p:sldId xmlns:r="http://schemas.openxmlformats.org/officeDocument/2006/relationships" id="264" r:id="R260e7364a00245b5"/>
    <p:sldId xmlns:r="http://schemas.openxmlformats.org/officeDocument/2006/relationships" id="265" r:id="Rc7f6701eddf34e45"/>
    <p:sldId xmlns:r="http://schemas.openxmlformats.org/officeDocument/2006/relationships" id="266" r:id="R42bad4e3ae464017"/>
    <p:sldId xmlns:r="http://schemas.openxmlformats.org/officeDocument/2006/relationships" id="267" r:id="R8450eed5248b4c9b"/>
    <p:sldId xmlns:r="http://schemas.openxmlformats.org/officeDocument/2006/relationships" id="268" r:id="Rc09e0df7cc124ffa"/>
    <p:sldId xmlns:r="http://schemas.openxmlformats.org/officeDocument/2006/relationships" id="269" r:id="Rc1847c53b12846ed"/>
    <p:sldId xmlns:r="http://schemas.openxmlformats.org/officeDocument/2006/relationships" id="270" r:id="Re4bbea4876974406"/>
    <p:sldId xmlns:r="http://schemas.openxmlformats.org/officeDocument/2006/relationships" id="271" r:id="R1789ddec00ce4912"/>
    <p:sldId xmlns:r="http://schemas.openxmlformats.org/officeDocument/2006/relationships" id="272" r:id="Rb75e209dfcb6472e"/>
    <p:sldId xmlns:r="http://schemas.openxmlformats.org/officeDocument/2006/relationships" id="273" r:id="R44c2c4e9522e4f56"/>
    <p:sldId xmlns:r="http://schemas.openxmlformats.org/officeDocument/2006/relationships" id="274" r:id="R293d46efd9d2416d"/>
    <p:sldId xmlns:r="http://schemas.openxmlformats.org/officeDocument/2006/relationships" id="275" r:id="Rc9b772ef85594516"/>
    <p:sldId xmlns:r="http://schemas.openxmlformats.org/officeDocument/2006/relationships" id="276" r:id="Rdeb85c9e6bab4207"/>
    <p:sldId xmlns:r="http://schemas.openxmlformats.org/officeDocument/2006/relationships" id="277" r:id="R0b6e714ef4834007"/>
    <p:sldId xmlns:r="http://schemas.openxmlformats.org/officeDocument/2006/relationships" id="278" r:id="R2dd636533df44f3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e554ca403fd42d2" /><Relationship Type="http://schemas.openxmlformats.org/officeDocument/2006/relationships/slideMaster" Target="/ppt/slideMasters/slideMaster1.xml" Id="R842aefdd958a4dec" /><Relationship Type="http://schemas.openxmlformats.org/officeDocument/2006/relationships/notesMaster" Target="/ppt/notesMasters/notesMaster1.xml" Id="R4c61641c8ef34c22" /><Relationship Type="http://schemas.openxmlformats.org/officeDocument/2006/relationships/presProps" Target="/ppt/presProps.xml" Id="Re08fe020c49b437b" /><Relationship Type="http://schemas.openxmlformats.org/officeDocument/2006/relationships/tableStyles" Target="/ppt/tableStyles.xml" Id="R90991f2100ee4d8d" /><Relationship Type="http://schemas.openxmlformats.org/officeDocument/2006/relationships/slide" Target="/ppt/slides/slide1.xml" Id="Re75b9327e5a44fb2" /><Relationship Type="http://schemas.openxmlformats.org/officeDocument/2006/relationships/slide" Target="/ppt/slides/slide2.xml" Id="R8d47a946446044b2" /><Relationship Type="http://schemas.openxmlformats.org/officeDocument/2006/relationships/slide" Target="/ppt/slides/slide3.xml" Id="R341d1b71820d4dd6" /><Relationship Type="http://schemas.openxmlformats.org/officeDocument/2006/relationships/slide" Target="/ppt/slides/slide4.xml" Id="Rbefa08d5a3854236" /><Relationship Type="http://schemas.openxmlformats.org/officeDocument/2006/relationships/slide" Target="/ppt/slides/slide5.xml" Id="R7f0ad566b69849c5" /><Relationship Type="http://schemas.openxmlformats.org/officeDocument/2006/relationships/slide" Target="/ppt/slides/slide6.xml" Id="R8fed873ac6a04a57" /><Relationship Type="http://schemas.openxmlformats.org/officeDocument/2006/relationships/slide" Target="/ppt/slides/slide7.xml" Id="R95ed143789484bfe" /><Relationship Type="http://schemas.openxmlformats.org/officeDocument/2006/relationships/slide" Target="/ppt/slides/slide8.xml" Id="Rbe2c6e74b2bc43ab" /><Relationship Type="http://schemas.openxmlformats.org/officeDocument/2006/relationships/slide" Target="/ppt/slides/slide9.xml" Id="R260e7364a00245b5" /><Relationship Type="http://schemas.openxmlformats.org/officeDocument/2006/relationships/slide" Target="/ppt/slides/slide10.xml" Id="Rc7f6701eddf34e45" /><Relationship Type="http://schemas.openxmlformats.org/officeDocument/2006/relationships/slide" Target="/ppt/slides/slide11.xml" Id="R42bad4e3ae464017" /><Relationship Type="http://schemas.openxmlformats.org/officeDocument/2006/relationships/slide" Target="/ppt/slides/slide12.xml" Id="R8450eed5248b4c9b" /><Relationship Type="http://schemas.openxmlformats.org/officeDocument/2006/relationships/slide" Target="/ppt/slides/slide13.xml" Id="Rc09e0df7cc124ffa" /><Relationship Type="http://schemas.openxmlformats.org/officeDocument/2006/relationships/slide" Target="/ppt/slides/slide14.xml" Id="Rc1847c53b12846ed" /><Relationship Type="http://schemas.openxmlformats.org/officeDocument/2006/relationships/slide" Target="/ppt/slides/slide15.xml" Id="Re4bbea4876974406" /><Relationship Type="http://schemas.openxmlformats.org/officeDocument/2006/relationships/slide" Target="/ppt/slides/slide16.xml" Id="R1789ddec00ce4912" /><Relationship Type="http://schemas.openxmlformats.org/officeDocument/2006/relationships/slide" Target="/ppt/slides/slide17.xml" Id="Rb75e209dfcb6472e" /><Relationship Type="http://schemas.openxmlformats.org/officeDocument/2006/relationships/slide" Target="/ppt/slides/slide18.xml" Id="R44c2c4e9522e4f56" /><Relationship Type="http://schemas.openxmlformats.org/officeDocument/2006/relationships/slide" Target="/ppt/slides/slide19.xml" Id="R293d46efd9d2416d" /><Relationship Type="http://schemas.openxmlformats.org/officeDocument/2006/relationships/slide" Target="/ppt/slides/slide20.xml" Id="Rc9b772ef85594516" /><Relationship Type="http://schemas.openxmlformats.org/officeDocument/2006/relationships/slide" Target="/ppt/slides/slide21.xml" Id="Rdeb85c9e6bab4207" /><Relationship Type="http://schemas.openxmlformats.org/officeDocument/2006/relationships/slide" Target="/ppt/slides/slide22.xml" Id="R0b6e714ef4834007" /><Relationship Type="http://schemas.openxmlformats.org/officeDocument/2006/relationships/slide" Target="/ppt/slides/slide23.xml" Id="R2dd636533df44f3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40a85fde5014a4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2796073bdef492c" /><Relationship Type="http://schemas.openxmlformats.org/officeDocument/2006/relationships/notesMaster" Target="/ppt/notesMasters/notesMaster1.xml" Id="Rd0c674f2e082455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098f35419424b37" /><Relationship Type="http://schemas.openxmlformats.org/officeDocument/2006/relationships/notesMaster" Target="/ppt/notesMasters/notesMaster1.xml" Id="Re2a5068f4d86468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3631fb5bbe24e52" /><Relationship Type="http://schemas.openxmlformats.org/officeDocument/2006/relationships/notesMaster" Target="/ppt/notesMasters/notesMaster1.xml" Id="Reff6a14b81b94ac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eb0f1073afb4871" /><Relationship Type="http://schemas.openxmlformats.org/officeDocument/2006/relationships/notesMaster" Target="/ppt/notesMasters/notesMaster1.xml" Id="Rdab9d16913b8423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f187be418f04fd9" /><Relationship Type="http://schemas.openxmlformats.org/officeDocument/2006/relationships/notesMaster" Target="/ppt/notesMasters/notesMaster1.xml" Id="R187c3fa16478499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d35c4a15b7e43cf" /><Relationship Type="http://schemas.openxmlformats.org/officeDocument/2006/relationships/notesMaster" Target="/ppt/notesMasters/notesMaster1.xml" Id="R5a726e7a9034471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5a4727460024e48" /><Relationship Type="http://schemas.openxmlformats.org/officeDocument/2006/relationships/notesMaster" Target="/ppt/notesMasters/notesMaster1.xml" Id="Rc4e4a25c48b4477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7c617f110344055" /><Relationship Type="http://schemas.openxmlformats.org/officeDocument/2006/relationships/notesMaster" Target="/ppt/notesMasters/notesMaster1.xml" Id="R9e1dad0863d7475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14c0fdd08b34836" /><Relationship Type="http://schemas.openxmlformats.org/officeDocument/2006/relationships/notesMaster" Target="/ppt/notesMasters/notesMaster1.xml" Id="R2e6dd8703f384d3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d3480a8e5c84fcd" /><Relationship Type="http://schemas.openxmlformats.org/officeDocument/2006/relationships/notesMaster" Target="/ppt/notesMasters/notesMaster1.xml" Id="R042824207faa446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b2244f506664028" /><Relationship Type="http://schemas.openxmlformats.org/officeDocument/2006/relationships/notesMaster" Target="/ppt/notesMasters/notesMaster1.xml" Id="R35d862347791478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09660b0b1f14e53" /><Relationship Type="http://schemas.openxmlformats.org/officeDocument/2006/relationships/notesMaster" Target="/ppt/notesMasters/notesMaster1.xml" Id="R3666f067c00d498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ed8705fc3464acf" /><Relationship Type="http://schemas.openxmlformats.org/officeDocument/2006/relationships/notesMaster" Target="/ppt/notesMasters/notesMaster1.xml" Id="R35ca13307e84492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0433cb50d784ac7" /><Relationship Type="http://schemas.openxmlformats.org/officeDocument/2006/relationships/notesMaster" Target="/ppt/notesMasters/notesMaster1.xml" Id="R49406436a5d2444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98e397ae0914ba9" /><Relationship Type="http://schemas.openxmlformats.org/officeDocument/2006/relationships/notesMaster" Target="/ppt/notesMasters/notesMaster1.xml" Id="R47202612f2d5460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a8e42590b304616" /><Relationship Type="http://schemas.openxmlformats.org/officeDocument/2006/relationships/notesMaster" Target="/ppt/notesMasters/notesMaster1.xml" Id="R7b173d0662ac4d4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02e87fb0c674029" /><Relationship Type="http://schemas.openxmlformats.org/officeDocument/2006/relationships/notesMaster" Target="/ppt/notesMasters/notesMaster1.xml" Id="R3986ac1ae9db46e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8b1b0a0c2b64817" /><Relationship Type="http://schemas.openxmlformats.org/officeDocument/2006/relationships/notesMaster" Target="/ppt/notesMasters/notesMaster1.xml" Id="Raccead22fe97491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ee581e8c163426a" /><Relationship Type="http://schemas.openxmlformats.org/officeDocument/2006/relationships/notesMaster" Target="/ppt/notesMasters/notesMaster1.xml" Id="R001f4afce4c84b0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81d9028f56b4a70" /><Relationship Type="http://schemas.openxmlformats.org/officeDocument/2006/relationships/notesMaster" Target="/ppt/notesMasters/notesMaster1.xml" Id="Rac99dc0d0541414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769f90fd61b4913" /><Relationship Type="http://schemas.openxmlformats.org/officeDocument/2006/relationships/notesMaster" Target="/ppt/notesMasters/notesMaster1.xml" Id="R936425c451e747e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9e767542ff14561" /><Relationship Type="http://schemas.openxmlformats.org/officeDocument/2006/relationships/notesMaster" Target="/ppt/notesMasters/notesMaster1.xml" Id="R289d4e89b9f946c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6856e34a7164874" /><Relationship Type="http://schemas.openxmlformats.org/officeDocument/2006/relationships/notesMaster" Target="/ppt/notesMasters/notesMaster1.xml" Id="R8113935c300c494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Approved report: C:/Users/itsal/Downloads/Jinie - FYP-1 Approved Report (1).pdf. Current implementation reviewed through 3 October 2026. </a:t>
            </a:r>
          </a:p>
          <a:p xmlns:a="http://schemas.openxmlformats.org/drawingml/2006/main">
            <a:r>
              <a:t>English: Jinie is an application-generation workspace targeting React Native. This is a development-progress presentation, not a claim of full production readiness.</a:t>
            </a:r>
          </a:p>
          <a:p xmlns:a="http://schemas.openxmlformats.org/drawingml/2006/main">
            <a:r>
              <a:t>Roman Urdu: Jinie user ke brief se requirements, screens aur React Native project banane ka workspace hai. Yeh current development progress hai.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Approved report: C:/Users/itsal/Downloads/Jinie - FYP-1 Approved Report (1).pdf. Current implementation reviewed through 3 October 2026. </a:t>
            </a:r>
          </a:p>
          <a:p xmlns:a="http://schemas.openxmlformats.org/drawingml/2006/main">
            <a:r>
              <a:t>Team names, registration numbers and supervisors follow the approved report, page 2. Use actual current contributions when discussing division of work.</a:t>
            </a:r>
          </a:p>
          <a:p xmlns:a="http://schemas.openxmlformats.org/drawingml/2006/main">
            <a:r>
              <a:t>Roman Urdu: Team aur supervisors approved report ke mutabiq hain. Apna actual contribution explain karein.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Approved report: C:/Users/itsal/Downloads/Jinie - FYP-1 Approved Report (1).pdf. Current implementation reviewed through 3 October 2026. </a:t>
            </a:r>
          </a:p>
          <a:p xmlns:a="http://schemas.openxmlformats.org/drawingml/2006/main">
            <a:r>
              <a:t>Report pages 5–7 establish the problem and objectives. We aim to reduce repetitive translation between requirements, design and code. No measured time-saving percentage is claimed.</a:t>
            </a:r>
          </a:p>
          <a:p xmlns:a="http://schemas.openxmlformats.org/drawingml/2006/main">
            <a:r>
              <a:t>Roman Urdu: Manual requirements se design aur code banana repetitive hota hai. Jinie is process ko guided workflow mein combine karta hai.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Approved report: C:/Users/itsal/Downloads/Jinie - FYP-1 Approved Report (1).pdf. Current implementation reviewed through 3 October 2026. </a:t>
            </a:r>
          </a:p>
          <a:p xmlns:a="http://schemas.openxmlformats.org/drawingml/2006/main">
            <a:r>
              <a:t>Approved scope was commerce applications with eight screen types. Current implementation has ten standard screens and limited custom read-only information screens, not support for arbitrary domains.</a:t>
            </a:r>
          </a:p>
          <a:p xmlns:a="http://schemas.openxmlformats.org/drawingml/2006/main">
            <a:r>
              <a:t>Roman Urdu: Main scope small-business commerce apps hai. Custom information screens added hain, lekin har business workflow automatically implement nahi hota.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Approved report: C:/Users/itsal/Downloads/Jinie - FYP-1 Approved Report (1).pdf. Current implementation reviewed through 3 October 2026. </a:t>
            </a:r>
          </a:p>
          <a:p xmlns:a="http://schemas.openxmlformats.org/drawingml/2006/main">
            <a:r>
              <a:t>Report pages 5–8 and 18 proposed Flutter, wholly local generation and MongoDB. Present changes explicitly. Supervisor approval of these amendments is not asserted.</a:t>
            </a:r>
          </a:p>
          <a:p xmlns:a="http://schemas.openxmlformats.org/drawingml/2006/main">
            <a:r>
              <a:t>Roman Urdu: Flutter ki jagah React Native use kiya hai. Planner mein external API assistance hai. MongoDB temporarily off hai aur SQLite active hai.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Approved report: C:/Users/itsal/Downloads/Jinie - FYP-1 Approved Report (1).pdf. Current implementation reviewed through 3 October 2026. </a:t>
            </a:r>
          </a:p>
          <a:p xmlns:a="http://schemas.openxmlformats.org/drawingml/2006/main">
            <a:r>
              <a:t>The order is Prompt, Requirements, Screens, Build and Preview. Code/Evidence are supporting panels. Download and optional configured Firebase deployment follow a ready build.</a:t>
            </a:r>
          </a:p>
          <a:p xmlns:a="http://schemas.openxmlformats.org/drawingml/2006/main">
            <a:r>
              <a:t>Roman Urdu: Pehle prompt, phir requirements approval, phir screens approval. Uske baad build aur preview. Code aur Evidence se generated result inspect hota hai.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Approved report: C:/Users/itsal/Downloads/Jinie - FYP-1 Approved Report (1).pdf. Current implementation reviewed through 3 October 2026. </a:t>
            </a:r>
          </a:p>
          <a:p xmlns:a="http://schemas.openxmlformats.org/drawingml/2006/main">
            <a:r>
              <a:t>Sources: frontend/src/pages/StudioPage.tsx; backend/studio/api.py; backend/studio/compiler.py; backend/studio/store.py. Generated apps do not receive a provisioned hosted backend automatically.</a:t>
            </a:r>
          </a:p>
          <a:p xmlns:a="http://schemas.openxmlformats.org/drawingml/2006/main">
            <a:r>
              <a:t>Roman Urdu: Jinie ka authoring backend aur generated app ka backend alag concepts hain. Export se automatically hosted database create nahi hota.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Approved report: C:/Users/itsal/Downloads/Jinie - FYP-1 Approved Report (1).pdf. Current implementation reviewed through 3 October 2026. </a:t>
            </a:r>
          </a:p>
          <a:p xmlns:a="http://schemas.openxmlformats.org/drawingml/2006/main">
            <a:r>
              <a:t>Sources: backend/studio/models.py, retrieval.py, design_retrieval.py and openai_planner.py. CodeT5 is a ProductCard candidate pipeline, not the generator of every final component.</a:t>
            </a:r>
          </a:p>
          <a:p xmlns:a="http://schemas.openxmlformats.org/drawingml/2006/main">
            <a:r>
              <a:t>Roman Urdu: DistilBERT initial labels deta hai. Random Forest layout ranking karta hai. RAG references laata hai. API planner final structured specification banata hai. CodeT5 candidate inspection ke liye hai.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Approved report: C:/Users/itsal/Downloads/Jinie - FYP-1 Approved Report (1).pdf. Current implementation reviewed through 3 October 2026. </a:t>
            </a:r>
          </a:p>
          <a:p xmlns:a="http://schemas.openxmlformats.org/drawingml/2006/main">
            <a:r>
              <a:t>Counts verified from training/data/intake.jsonl, layouts.jsonl and code.jsonl on 3 October 2026. Provenance tags: intake and code synthetic_template; layouts synthetic_rule. These counts do not establish checkpoint accuracy or real-world generalisation. Report pages 17–18 proposed dataset construction.</a:t>
            </a:r>
          </a:p>
          <a:p xmlns:a="http://schemas.openxmlformats.org/drawingml/2006/main">
            <a:r>
              <a:t>Roman Urdu: Dataset counts actual files se hain. Records synthetic hain, isliye manually curated real-world dataset ka claim nahi karna. Accuracy alag evaluation se establish hogi.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Approved report: C:/Users/itsal/Downloads/Jinie - FYP-1 Approved Report (1).pdf. Current implementation reviewed through 3 October 2026. </a:t>
            </a:r>
          </a:p>
          <a:p xmlns:a="http://schemas.openxmlformats.org/drawingml/2006/main">
            <a:r>
              <a:t>Source: backend/studio/srs_document.py, srs_pdf.py and api.py. Standard FRs remain largely screen-level. Custom FRs list fields. Five NFRs are default targets, not measured compliance.</a:t>
            </a:r>
          </a:p>
          <a:p xmlns:a="http://schemas.openxmlformats.org/drawingml/2006/main">
            <a:r>
              <a:t>Roman Urdu: SRS website aur PDF mein available hai. FRs screen behaviours describe karte hain. NFRs abhi predefined targets hain, measured results nahi.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Approved report: C:/Users/itsal/Downloads/Jinie - FYP-1 Approved Report (1).pdf. Current implementation reviewed through 3 October 2026. </a:t>
            </a:r>
          </a:p>
          <a:p xmlns:a="http://schemas.openxmlformats.org/drawingml/2006/main">
            <a:r>
              <a:t>Sources: composition.py, PlannedScreen.tsx, PlannedCommerce.jsx. Existing dataset examples cover grid/cards/editorial; rail and mosaic are added renderer capabilities the planner may select. Model weights were not retrained for them.</a:t>
            </a:r>
          </a:p>
          <a:p xmlns:a="http://schemas.openxmlformats.org/drawingml/2006/main">
            <a:r>
              <a:t>Roman Urdu: Layout variation renderer ke supported options se aati hai. Colours ke ilawa block arrangement change hota hai. Har prompt par completely unique design guaranteed nahi.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Approved report: C:/Users/itsal/Downloads/Jinie - FYP-1 Approved Report (1).pdf. Current implementation reviewed through 3 October 2026. </a:t>
            </a:r>
          </a:p>
          <a:p xmlns:a="http://schemas.openxmlformats.org/drawingml/2006/main">
            <a:r>
              <a:t>Sources: screen_contract.py, custom_screens.py, tests/test_custom_screens.py. Medical Record has a dedicated completeness check. Other custom pages rely on the planner producing the requested labels. The screen is read-only and values default to Not provided.</a:t>
            </a:r>
          </a:p>
          <a:p xmlns:a="http://schemas.openxmlformats.org/drawingml/2006/main">
            <a:r>
              <a:t>Roman Urdu: Dont add settings ab recognise hota hai. Medical Record example ke chaar fields check hote hain. Yeh clinical system nahi aur data invent nahi karta.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Approved report: C:/Users/itsal/Downloads/Jinie - FYP-1 Approved Report (1).pdf. Current implementation reviewed through 3 October 2026. </a:t>
            </a:r>
          </a:p>
          <a:p xmlns:a="http://schemas.openxmlformats.org/drawingml/2006/main">
            <a:r>
              <a:t>Source: backend/studio/compiler.py, templates/AppView.jsx, templates/PlannedCommerce.jsx. Templates and configuration drive delivered source. CodeT5 candidate is retained for inspection. ZIP contains source, browser build and SRS.</a:t>
            </a:r>
          </a:p>
          <a:p xmlns:a="http://schemas.openxmlformats.org/drawingml/2006/main">
            <a:r>
              <a:t>Roman Urdu: Screenshot se code nahi banta. Approved configuration ko reusable React Native components ke saath assemble kiya jata hai.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Approved report: C:/Users/itsal/Downloads/Jinie - FYP-1 Approved Report (1).pdf. Current implementation reviewed through 3 October 2026. </a:t>
            </a:r>
          </a:p>
          <a:p xmlns:a="http://schemas.openxmlformats.org/drawingml/2006/main">
            <a:r>
              <a:t>Approved report pages 9–12. Status describes working core features and remaining proposal requirements; it is not a completion percentage. Utilities are not completely centralised. FR generation is primarily per-screen; technology selection remains constrained.</a:t>
            </a:r>
          </a:p>
          <a:p xmlns:a="http://schemas.openxmlformats.org/drawingml/2006/main">
            <a:r>
              <a:t>Roman Urdu: Har module ka working part aur remaining part alag dikhaya hai. Full completion ka claim nahi hai.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Approved report: C:/Users/itsal/Downloads/Jinie - FYP-1 Approved Report (1).pdf. Current implementation reviewed through 3 October 2026. </a:t>
            </a:r>
          </a:p>
          <a:p xmlns:a="http://schemas.openxmlformats.org/drawingml/2006/main">
            <a:r>
              <a:t>Approved report page 12. Compiler builds browser assets, but Android/iOS release acceptance is separate. Tester checks structure and compilation, not all behaviours. Firebase requires configuration and CLI authentication. No full live deployment is verified in this deck.</a:t>
            </a:r>
          </a:p>
          <a:p xmlns:a="http://schemas.openxmlformats.org/drawingml/2006/main">
            <a:r>
              <a:t>Roman Urdu: Build pass hona har feature ke correct hone ka proof nahi. Firebase path configured environment mein kaam karta hai; cloud services automatic provision nahi hote.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Approved report: C:/Users/itsal/Downloads/Jinie - FYP-1 Approved Report (1).pdf. Current implementation reviewed through 3 October 2026. </a:t>
            </a:r>
          </a:p>
          <a:p xmlns:a="http://schemas.openxmlformats.org/drawingml/2006/main">
            <a:r>
              <a:t>Approved report pages 13–16. Default full-screen preview uses the HTML design renderer; isolated component previews use compiled source. Annotation UI was removed. Reference upload supports certain formats; voice and multilingual accuracy are not established.</a:t>
            </a:r>
          </a:p>
          <a:p xmlns:a="http://schemas.openxmlformats.org/drawingml/2006/main">
            <a:r>
              <a:t>Roman Urdu: Frontend workflow working hai, lekin exact checkpoint resume, arbitrary regeneration aur preview/export consistency par kaam baqi hai.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Approved report: C:/Users/itsal/Downloads/Jinie - FYP-1 Approved Report (1).pdf. Current implementation reviewed through 3 October 2026. </a:t>
            </a:r>
          </a:p>
          <a:p xmlns:a="http://schemas.openxmlformats.org/drawingml/2006/main">
            <a:r>
              <a:t>Previously run targeted regression suites and frontend production builds passed during implementation. API responses were mocked. Exact medical request checked through review/build/export. No fresh full-suite run is claimed for presentation creation. No production latency or accuracy claims.</a:t>
            </a:r>
          </a:p>
          <a:p xmlns:a="http://schemas.openxmlformats.org/drawingml/2006/main">
            <a:r>
              <a:t>Roman Urdu: Selected regression tests aur build checks pass hue. API tests mocked thay. Hum universal accuracy ya production readiness claim nahi kar rahe.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Approved report: C:/Users/itsal/Downloads/Jinie - FYP-1 Approved Report (1).pdf. Current implementation reviewed through 3 October 2026. </a:t>
            </a:r>
          </a:p>
          <a:p xmlns:a="http://schemas.openxmlformats.org/drawingml/2006/main">
            <a:r>
              <a:t>Priority sequence is a proposed plan, not a dated commitment. Current nonsense-input rejection remains incomplete. Security includes ownership enforcement and session/account persistence.</a:t>
            </a:r>
          </a:p>
          <a:p xmlns:a="http://schemas.openxmlformats.org/drawingml/2006/main">
            <a:r>
              <a:t>Roman Urdu: Next focus prompt completeness, preview consistency, security aur functional testing hai. Yeh remaining work hai, completed feature nahi.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Approved report: C:/Users/itsal/Downloads/Jinie - FYP-1 Approved Report (1).pdf. Current implementation reviewed through 3 October 2026. </a:t>
            </a:r>
          </a:p>
          <a:p xmlns:a="http://schemas.openxmlformats.org/drawingml/2006/main">
            <a:r>
              <a:t>Use a live project or a previously generated project. Do not use the illustration as evidence of a tested UI. Demo: prompt, FRs, exclusions, custom fields, screen edits, build, preview, evidence and ZIP.</a:t>
            </a:r>
          </a:p>
          <a:p xmlns:a="http://schemas.openxmlformats.org/drawingml/2006/main">
            <a:r>
              <a:t>Roman Urdu: Medical Record example demo karein. Pehle requirements aur exclusions, phir design, build, evidence aur download dikhayein. Backup project ready rakhein.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Approved report: C:/Users/itsal/Downloads/Jinie - FYP-1 Approved Report (1).pdf. Current implementation reviewed through 3 October 2026. </a:t>
            </a:r>
          </a:p>
          <a:p xmlns:a="http://schemas.openxmlformats.org/drawingml/2006/main">
            <a:r>
              <a:t>Closing image is a generated promotional concept from this conversation, not a screenshot or proof of current application functionality. Source image: exec-fb9696fc-d63e-4a61-b2b6-03159772684c.png.</a:t>
            </a:r>
          </a:p>
          <a:p xmlns:a="http://schemas.openxmlformats.org/drawingml/2006/main">
            <a:r>
              <a:t>Roman Urdu: Jinie ka core workflow implemented hai. Remaining work accuracy, consistency, security aur validation par focus karta hai.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Approved report: C:/Users/itsal/Downloads/Jinie - FYP-1 Approved Report (1).pdf. Current implementation reviewed through 3 October 2026. </a:t>
            </a:r>
          </a:p>
          <a:p xmlns:a="http://schemas.openxmlformats.org/drawingml/2006/main">
            <a:r>
              <a:t>Source: project configuration, compiler.py, srs_pdf.py and api.py. Web authoring and mobile output use different languages. ZIP export uses Python zipfile, not Node archiver as proposed.</a:t>
            </a:r>
          </a:p>
          <a:p xmlns:a="http://schemas.openxmlformats.org/drawingml/2006/main">
            <a:r>
              <a:t>Roman Urdu: Website React TypeScript hai. Generated mobile app React Native JavaScript hai. Backend Python FastAPI hai.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Approved report: C:/Users/itsal/Downloads/Jinie - FYP-1 Approved Report (1).pdf. Current implementation reviewed through 3 October 2026. </a:t>
            </a:r>
          </a:p>
          <a:p xmlns:a="http://schemas.openxmlformats.org/drawingml/2006/main">
            <a:r>
              <a:t>Source: backend/studio/auth.py and store.py. Passwords use salted PBKDF2-HMAC-SHA256 with 100000 iterations; random tokens are not JWTs and live in process memory for up to seven days. Browser uses localStorage. Backend restart invalidates tokens. Project ownership protections are incomplete.</a:t>
            </a:r>
          </a:p>
          <a:p xmlns:a="http://schemas.openxmlformats.org/drawingml/2006/main">
            <a:r>
              <a:t>Roman Urdu: Hashing implemented hai, lekin complete production security nahi. Session tokens backend restart se clear hote hain. MongoDB disabled hai.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Approved report: C:/Users/itsal/Downloads/Jinie - FYP-1 Approved Report (1).pdf. Current implementation reviewed through 3 October 2026. </a:t>
            </a:r>
          </a:p>
          <a:p xmlns:a="http://schemas.openxmlformats.org/drawingml/2006/main">
            <a:r>
              <a:t>The model checkpoints are present, but performance must be evaluated with verified metrics. Do not equate cosine similarity with accuracy. RAG is retrieval, not another fine-tuned neural model. Fine-tuning was not performed during the recent performance update.</a:t>
            </a:r>
          </a:p>
          <a:p xmlns:a="http://schemas.openxmlformats.org/drawingml/2006/main">
            <a:r>
              <a:t>Roman Urdu: Similarity score accuracy nahi hota. Custom screens abhi read-only hain. Model aur whole application ki quality separate evaluate karni hai.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b2442daf70419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6e6f277b4648c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ff033f339046d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bee98f3fa04a9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ec3ad6ce8f4c8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9ed5adcdce453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93D73E8-8934-48E6-BD5B-321B65160E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A120482-A334-493B-BD69-702CAE1C32A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CA58270-A4C3-481F-9D43-9DEB31A389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58FC6AE-1328-478C-A931-0D117E2192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E004260-FD4F-4BA1-AAC8-C8764692D6F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4D03580-6DF7-4F91-96C3-8391DECD91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7500331-37D2-4FD6-ACF4-9D106D2D94C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0D2F44F-85C5-44D5-B45C-0428C3E73CE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E1B29C1-D714-4956-B932-3D97DBFC04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E769DEC-5E09-44CC-897B-832FD15AF55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176d43070154b97" /><Relationship Type="http://schemas.openxmlformats.org/officeDocument/2006/relationships/slideLayout" Target="/ppt/slideLayouts/slideLayout1.xml" Id="R607531af641a4064" /><Relationship Type="http://schemas.openxmlformats.org/officeDocument/2006/relationships/slideLayout" Target="/ppt/slideLayouts/slideLayout2.xml" Id="Rdb42d3eb9fb7464e" /><Relationship Type="http://schemas.openxmlformats.org/officeDocument/2006/relationships/slideLayout" Target="/ppt/slideLayouts/slideLayout3.xml" Id="R8d836e4289c9491e" /><Relationship Type="http://schemas.openxmlformats.org/officeDocument/2006/relationships/slideLayout" Target="/ppt/slideLayouts/slideLayout4.xml" Id="R12c398f1adc740b6" /><Relationship Type="http://schemas.openxmlformats.org/officeDocument/2006/relationships/slideLayout" Target="/ppt/slideLayouts/slideLayout5.xml" Id="R7f3d98d00eab4299" /><Relationship Type="http://schemas.openxmlformats.org/officeDocument/2006/relationships/slideLayout" Target="/ppt/slideLayouts/slideLayout6.xml" Id="R9b424da5c4c349f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07531af641a4064"/>
    <p:sldLayoutId xmlns:r="http://schemas.openxmlformats.org/officeDocument/2006/relationships" id="2147483650" r:id="Rdb42d3eb9fb7464e"/>
    <p:sldLayoutId xmlns:r="http://schemas.openxmlformats.org/officeDocument/2006/relationships" id="2147483651" r:id="R8d836e4289c9491e"/>
    <p:sldLayoutId xmlns:r="http://schemas.openxmlformats.org/officeDocument/2006/relationships" id="2147483652" r:id="R12c398f1adc740b6"/>
    <p:sldLayoutId xmlns:r="http://schemas.openxmlformats.org/officeDocument/2006/relationships" id="2147483653" r:id="R7f3d98d00eab4299"/>
    <p:sldLayoutId xmlns:r="http://schemas.openxmlformats.org/officeDocument/2006/relationships" id="2147483654" r:id="R9b424da5c4c349f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d512548814402f" /><Relationship Type="http://schemas.openxmlformats.org/officeDocument/2006/relationships/image" Target="/ppt/media/image.png" Id="R01703c7c31394b7b" /><Relationship Type="http://schemas.openxmlformats.org/officeDocument/2006/relationships/notesSlide" Target="/ppt/notesSlides/notesSlide1.xml" Id="R093e2d5a505e47c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23b6620c084899" /><Relationship Type="http://schemas.openxmlformats.org/officeDocument/2006/relationships/notesSlide" Target="/ppt/notesSlides/notesSlide2.xml" Id="Raf384129ed71429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60b5c3aa014256" /><Relationship Type="http://schemas.openxmlformats.org/officeDocument/2006/relationships/notesSlide" Target="/ppt/notesSlides/notesSlide3.xml" Id="Rfed7dd5234e14a5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1b894208d24710" /><Relationship Type="http://schemas.openxmlformats.org/officeDocument/2006/relationships/notesSlide" Target="/ppt/notesSlides/notesSlide4.xml" Id="Rddea3f03de9c4c0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9261626fbe48a8" /><Relationship Type="http://schemas.openxmlformats.org/officeDocument/2006/relationships/notesSlide" Target="/ppt/notesSlides/notesSlide5.xml" Id="R72fa48144115469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294bbc3eee4096" /><Relationship Type="http://schemas.openxmlformats.org/officeDocument/2006/relationships/notesSlide" Target="/ppt/notesSlides/notesSlide6.xml" Id="R6e5b689c9dd64e1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dd95b4c1784550" /><Relationship Type="http://schemas.openxmlformats.org/officeDocument/2006/relationships/notesSlide" Target="/ppt/notesSlides/notesSlide7.xml" Id="Rf4bc9f64750b43f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04fc5c53ec4137" /><Relationship Type="http://schemas.openxmlformats.org/officeDocument/2006/relationships/notesSlide" Target="/ppt/notesSlides/notesSlide8.xml" Id="R365c57a311cf480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d254e1c3654ebc" /><Relationship Type="http://schemas.openxmlformats.org/officeDocument/2006/relationships/notesSlide" Target="/ppt/notesSlides/notesSlide9.xml" Id="R7a8479c66f434fc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f333071d6e47b1" /><Relationship Type="http://schemas.openxmlformats.org/officeDocument/2006/relationships/notesSlide" Target="/ppt/notesSlides/notesSlide10.xml" Id="Rf0673d2e51d8426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8d96ade76144f7" /><Relationship Type="http://schemas.openxmlformats.org/officeDocument/2006/relationships/notesSlide" Target="/ppt/notesSlides/notesSlide11.xml" Id="R5a6a939a69a547a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cc2fb99022459d" /><Relationship Type="http://schemas.openxmlformats.org/officeDocument/2006/relationships/notesSlide" Target="/ppt/notesSlides/notesSlide12.xml" Id="Rc73286007c354a5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d863dbff3448b3" /><Relationship Type="http://schemas.openxmlformats.org/officeDocument/2006/relationships/notesSlide" Target="/ppt/notesSlides/notesSlide13.xml" Id="Rb5e0994a44524e2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35af406d7d45ad" /><Relationship Type="http://schemas.openxmlformats.org/officeDocument/2006/relationships/notesSlide" Target="/ppt/notesSlides/notesSlide14.xml" Id="Ra2cae99e0d66463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feb906a3494aed" /><Relationship Type="http://schemas.openxmlformats.org/officeDocument/2006/relationships/notesSlide" Target="/ppt/notesSlides/notesSlide15.xml" Id="R5c63633b98e248a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992a052a634353" /><Relationship Type="http://schemas.openxmlformats.org/officeDocument/2006/relationships/notesSlide" Target="/ppt/notesSlides/notesSlide16.xml" Id="Rc208e1c4d274466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caa498e2934270" /><Relationship Type="http://schemas.openxmlformats.org/officeDocument/2006/relationships/notesSlide" Target="/ppt/notesSlides/notesSlide17.xml" Id="Rec7ec5d07ba9463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6fe577cb634f78" /><Relationship Type="http://schemas.openxmlformats.org/officeDocument/2006/relationships/notesSlide" Target="/ppt/notesSlides/notesSlide18.xml" Id="R81815da96af0441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a5ca8786184d31" /><Relationship Type="http://schemas.openxmlformats.org/officeDocument/2006/relationships/notesSlide" Target="/ppt/notesSlides/notesSlide19.xml" Id="Rf477712a4350474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0ded93b14646bf" /><Relationship Type="http://schemas.openxmlformats.org/officeDocument/2006/relationships/image" Target="/ppt/media/image2.png" Id="R666f9f72c9d04933" /><Relationship Type="http://schemas.openxmlformats.org/officeDocument/2006/relationships/notesSlide" Target="/ppt/notesSlides/notesSlide20.xml" Id="Rc54fec32093246d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46c564f5434954" /><Relationship Type="http://schemas.openxmlformats.org/officeDocument/2006/relationships/notesSlide" Target="/ppt/notesSlides/notesSlide21.xml" Id="Rce73cec979e24dd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1aec419f53498b" /><Relationship Type="http://schemas.openxmlformats.org/officeDocument/2006/relationships/notesSlide" Target="/ppt/notesSlides/notesSlide22.xml" Id="R299f54362d18418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137ec707c541d2" /><Relationship Type="http://schemas.openxmlformats.org/officeDocument/2006/relationships/notesSlide" Target="/ppt/notesSlides/notesSlide23.xml" Id="R1c8a2e2a30a24fb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10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DA6DCE-D297-40FB-A29C-F1CD916D8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F6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6F2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6F2FF"/>
                </a:solidFill>
                <a:latin typeface="Arial"/>
                <a:ea typeface="Arial"/>
                <a:cs typeface="Arial"/>
              </a:rPr>
              <a:t>Jinie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5371E4-2300-469B-97F8-BFF6468B4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C4BCD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C4BCD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4BCD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431330-63CB-4B43-AC65-EE40191BF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38325"/>
            <a:ext cx="5429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75" b="1">
                <a:solidFill>
                  <a:srgbClr val="F6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75" b="1">
                <a:solidFill>
                  <a:srgbClr val="F6F2F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6F2FF"/>
                </a:solidFill>
                <a:latin typeface="Arial"/>
                <a:ea typeface="Arial"/>
                <a:cs typeface="Arial"/>
              </a:rPr>
              <a:t>From your brief to</a:t>
            </a:r>
          </a:p>
          <a:p xmlns:a="http://schemas.openxmlformats.org/drawingml/2006/main">
            <a:pPr>
              <a:defRPr sz="2775" b="1">
                <a:solidFill>
                  <a:srgbClr val="F6F2F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6F2FF"/>
                </a:solidFill>
                <a:latin typeface="Arial"/>
                <a:ea typeface="Arial"/>
                <a:cs typeface="Arial"/>
              </a:rPr>
              <a:t>React Native application</a:t>
            </a:r>
          </a:p>
          <a:p xmlns:a="http://schemas.openxmlformats.org/drawingml/2006/main">
            <a:pPr>
              <a:defRPr sz="2775" b="1">
                <a:solidFill>
                  <a:srgbClr val="F6F2F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6F2FF"/>
                </a:solidFill>
                <a:latin typeface="Arial"/>
                <a:ea typeface="Arial"/>
                <a:cs typeface="Arial"/>
              </a:rPr>
              <a:t>generation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BBE41E-0759-465F-8879-697331FEB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71875"/>
            <a:ext cx="4905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C4BCD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C4BCD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4BCD1"/>
                </a:solidFill>
                <a:latin typeface="Arial"/>
                <a:ea typeface="Arial"/>
                <a:cs typeface="Arial"/>
              </a:rPr>
              <a:t>Final Year Project</a:t>
            </a:r>
          </a:p>
          <a:p xmlns:a="http://schemas.openxmlformats.org/drawingml/2006/main">
            <a:pPr>
              <a:defRPr sz="2100" b="0">
                <a:solidFill>
                  <a:srgbClr val="C4BCD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4BCD1"/>
                </a:solidFill>
                <a:latin typeface="Arial"/>
                <a:ea typeface="Arial"/>
                <a:cs typeface="Arial"/>
              </a:rPr>
              <a:t>Development Progress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72752F-FDCA-42FF-AEFB-D2D2AD91B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62575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C4BCD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C4BCD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4BCD1"/>
                </a:solidFill>
                <a:latin typeface="Arial"/>
                <a:ea typeface="Arial"/>
                <a:cs typeface="Arial"/>
              </a:rPr>
              <a:t>Air University Islamabad</a:t>
            </a:r>
          </a:p>
          <a:p xmlns:a="http://schemas.openxmlformats.org/drawingml/2006/main">
            <a:pPr>
              <a:defRPr sz="1725" b="0">
                <a:solidFill>
                  <a:srgbClr val="C4BCD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4BCD1"/>
                </a:solidFill>
                <a:latin typeface="Arial"/>
                <a:ea typeface="Arial"/>
                <a:cs typeface="Arial"/>
              </a:rPr>
              <a:t>3 October 2026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747AAA-9388-431C-8BDA-2AFB01F974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703c7c31394b7b"/>
          <a:stretch xmlns:a="http://schemas.openxmlformats.org/drawingml/2006/main"/>
        </p:blipFill>
        <p:spPr>
          <a:xfrm xmlns:a="http://schemas.openxmlformats.org/drawingml/2006/main">
            <a:off x="7038975" y="1869602"/>
            <a:ext cx="4029075" cy="180434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084578"/>
      </p:ext>
    </p:extLst>
  </p:cSld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1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/>
                                  <p:tgtEl>
                                    <p:spTgt spid="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500" fill="hold"/>
                                  <p:tgtEl>
                                    <p:spTgt spid="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withEffect">
                            <p:stCondLst>
                              <p:cond delay="100"/>
                            </p:stCondLst>
                            <p:childTnLst>
                              <p:set>
                                <p:cBhvr>
                                  <p:cTn id="14" dur="1" fill="hold"/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500" fill="hold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22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17" dur="1" fill="hold"/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8" dur="500" fill="hold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22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20" dur="1" fill="hold"/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1" dur="500" fill="hold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22" presetClass="entr" presetSubtype="0" fill="hold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23" dur="1" fill="hold"/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4" dur="500" fill="hold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22" presetClass="entr" presetSubtype="0" fill="hold" nodeType="withEffect">
                            <p:stCondLst>
                              <p:cond delay="500"/>
                            </p:stCondLst>
                            <p:childTnLst>
                              <p:set>
                                <p:cBhvr>
                                  <p:cTn id="26" dur="1" fill="hold"/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7" dur="500" fill="hold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31B1F8-5243-402C-BA85-035C7DECA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2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27203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72033"/>
                </a:solidFill>
                <a:latin typeface="Arial"/>
                <a:ea typeface="Arial"/>
                <a:cs typeface="Arial"/>
              </a:rPr>
              <a:t>Project team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F81E23-5265-468E-87AE-B00FCCDEA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1076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>
                <a:solidFill>
                  <a:srgbClr val="70459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70459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0459E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2F14E6-CBA1-464A-BCE7-79C4B9A7C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65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65B7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5B7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82F7AA-3404-4C56-9E82-03E2AE36024D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2714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620000"/>
                <a:gridCol w="3352800"/>
              </a:tblGrid>
              <a:tr h="678656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Team member</a:t>
                      </a:r>
                    </a:p>
                  </a:txBody>
                  <a:tcPr marL="114300" marR="114300" marT="95250" marB="76200">
                    <a:solidFill>
                      <a:srgbClr val="7045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Registration</a:t>
                      </a:r>
                    </a:p>
                  </a:txBody>
                  <a:tcPr marL="114300" marR="114300" marT="95250" marB="76200">
                    <a:solidFill>
                      <a:srgbClr val="70459E"/>
                    </a:solidFill>
                  </a:tcPr>
                </a:tc>
              </a:tr>
              <a:tr h="67865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72033"/>
                          </a:solidFill>
                          <a:latin typeface="Arial"/>
                          <a:ea typeface="Arial"/>
                          <a:cs typeface="Arial"/>
                        </a:rPr>
                        <a:t>Chaudry Ali Sher</a:t>
                      </a:r>
                    </a:p>
                  </a:txBody>
                  <a:tcPr marL="114300" marR="114300" marT="9525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72033"/>
                          </a:solidFill>
                          <a:latin typeface="Arial"/>
                          <a:ea typeface="Arial"/>
                          <a:cs typeface="Arial"/>
                        </a:rPr>
                        <a:t>232418</a:t>
                      </a:r>
                    </a:p>
                  </a:txBody>
                  <a:tcPr marL="114300" marR="114300" marT="95250" marB="76200">
                    <a:solidFill>
                      <a:srgbClr val="FFFFFF"/>
                    </a:solidFill>
                  </a:tcPr>
                </a:tc>
              </a:tr>
              <a:tr h="67865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72033"/>
                          </a:solidFill>
                          <a:latin typeface="Arial"/>
                          <a:ea typeface="Arial"/>
                          <a:cs typeface="Arial"/>
                        </a:rPr>
                        <a:t>Ansa Anwaar</a:t>
                      </a:r>
                    </a:p>
                  </a:txBody>
                  <a:tcPr marL="114300" marR="114300" marT="95250" marB="76200">
                    <a:solidFill>
                      <a:srgbClr val="EEE8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72033"/>
                          </a:solidFill>
                          <a:latin typeface="Arial"/>
                          <a:ea typeface="Arial"/>
                          <a:cs typeface="Arial"/>
                        </a:rPr>
                        <a:t>232382</a:t>
                      </a:r>
                    </a:p>
                  </a:txBody>
                  <a:tcPr marL="114300" marR="114300" marT="95250" marB="76200">
                    <a:solidFill>
                      <a:srgbClr val="EEE8F6"/>
                    </a:solidFill>
                  </a:tcPr>
                </a:tc>
              </a:tr>
              <a:tr h="67865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72033"/>
                          </a:solidFill>
                          <a:latin typeface="Arial"/>
                          <a:ea typeface="Arial"/>
                          <a:cs typeface="Arial"/>
                        </a:rPr>
                        <a:t>Kaneez Zehra</a:t>
                      </a:r>
                    </a:p>
                  </a:txBody>
                  <a:tcPr marL="114300" marR="114300" marT="9525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72033"/>
                          </a:solidFill>
                          <a:latin typeface="Arial"/>
                          <a:ea typeface="Arial"/>
                          <a:cs typeface="Arial"/>
                        </a:rPr>
                        <a:t>232403</a:t>
                      </a:r>
                    </a:p>
                  </a:txBody>
                  <a:tcPr marL="114300" marR="114300" marT="95250" marB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CBA715-B2C4-46C9-9AD4-C5FFBB8E0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95850"/>
            <a:ext cx="1047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1">
                <a:solidFill>
                  <a:srgbClr val="2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7203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72033"/>
                </a:solidFill>
                <a:latin typeface="Arial"/>
                <a:ea typeface="Arial"/>
                <a:cs typeface="Arial"/>
              </a:rPr>
              <a:t>Supervisor: Dr. Bilal Ahmad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C6238A-C123-4D60-BC43-5597F0FC4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10200"/>
            <a:ext cx="1047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2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7203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72033"/>
                </a:solidFill>
                <a:latin typeface="Arial"/>
                <a:ea typeface="Arial"/>
                <a:cs typeface="Arial"/>
              </a:rPr>
              <a:t>Co-Supervisor: Sir Asim Ali Fayyaz</a:t>
            </a:r>
          </a:p>
        </p:txBody>
      </p:sp>
    </p:spTree>
    <p:extLst>
      <p:ext uri="{BB962C8B-B14F-4D97-AF65-F5344CB8AC3E}">
        <p14:creationId xmlns:p14="http://schemas.microsoft.com/office/powerpoint/2010/main" val="473897039"/>
      </p:ext>
    </p:extLst>
  </p:cSld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1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/>
                                  <p:tgtEl>
                                    <p:spTgt spid="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500" fill="hold"/>
                                  <p:tgtEl>
                                    <p:spTgt spid="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withEffect">
                            <p:stCondLst>
                              <p:cond delay="100"/>
                            </p:stCondLst>
                            <p:childTnLst>
                              <p:set>
                                <p:cBhvr>
                                  <p:cTn id="14" dur="1" fill="hold"/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500" fill="hold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2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17" dur="1" fill="hold"/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lide(fromBottom)">
                                <p:cBhvr>
                                  <p:cTn id="18" dur="500" fill="hold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2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20" dur="1" fill="hold"/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lide(fromBottom)">
                                <p:cBhvr>
                                  <p:cTn id="21" dur="500" fill="hold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2" presetClass="entr" presetSubtype="0" fill="hold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23" dur="1" fill="hold"/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lide(fromBottom)">
                                <p:cBhvr>
                                  <p:cTn id="24" dur="500" fill="hold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2" presetClass="entr" presetSubtype="0" fill="hold" nodeType="withEffect">
                            <p:stCondLst>
                              <p:cond delay="500"/>
                            </p:stCondLst>
                            <p:childTnLst>
                              <p:set>
                                <p:cBhvr>
                                  <p:cTn id="26" dur="1" fill="hold"/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lide(fromBottom)">
                                <p:cBhvr>
                                  <p:cTn id="27" dur="500" fill="hold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210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09C043-6C1C-4A00-BC52-BC6255AF7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F6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6F2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6F2FF"/>
                </a:solidFill>
                <a:latin typeface="Arial"/>
                <a:ea typeface="Arial"/>
                <a:cs typeface="Arial"/>
              </a:rPr>
              <a:t>Problem and project objectives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55CB47-E795-4014-AFC2-965E88F65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1076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>
                <a:solidFill>
                  <a:srgbClr val="B592E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592E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592E5"/>
                </a:solidFill>
                <a:latin typeface="Arial"/>
                <a:ea typeface="Arial"/>
                <a:cs typeface="Arial"/>
              </a:rPr>
              <a:t>PURPOSE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CA9129-0BBF-4C31-BA01-1D99302C4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C4BCD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C4BCD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4BCD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D90F9A-9238-4249-AB2D-E8809B569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62125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1">
                <a:solidFill>
                  <a:srgbClr val="B592E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B592E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B592E5"/>
                </a:solidFill>
                <a:latin typeface="Arial"/>
                <a:ea typeface="Arial"/>
                <a:cs typeface="Arial"/>
              </a:rPr>
              <a:t>The 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FA3D72-3853-420E-AE20-E375ADA8B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762125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1">
                <a:solidFill>
                  <a:srgbClr val="B592E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B592E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B592E5"/>
                </a:solidFill>
                <a:latin typeface="Arial"/>
                <a:ea typeface="Arial"/>
                <a:cs typeface="Arial"/>
              </a:rPr>
              <a:t>Our objectives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F62350-596A-4139-9D84-23949F280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38400"/>
            <a:ext cx="5000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F6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6F2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6F2FF"/>
                </a:solidFill>
                <a:latin typeface="Arial"/>
                <a:ea typeface="Arial"/>
                <a:cs typeface="Arial"/>
              </a:rPr>
              <a:t>Design and coding require different skills.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BA661E-C447-4BC2-B819-0EFF84C50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76600"/>
            <a:ext cx="5000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F6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6F2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6F2FF"/>
                </a:solidFill>
                <a:latin typeface="Arial"/>
                <a:ea typeface="Arial"/>
                <a:cs typeface="Arial"/>
              </a:rPr>
              <a:t>Manual translation creates repetitive work.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7958B6-D345-4918-909F-B4ACB059B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14800"/>
            <a:ext cx="5000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F6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6F2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6F2FF"/>
                </a:solidFill>
                <a:latin typeface="Arial"/>
                <a:ea typeface="Arial"/>
                <a:cs typeface="Arial"/>
              </a:rPr>
              <a:t>Requirements and output can drift apart.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82147A-0205-4455-BBB5-89B196269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38400"/>
            <a:ext cx="5000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F6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6F2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6F2FF"/>
                </a:solidFill>
                <a:latin typeface="Arial"/>
                <a:ea typeface="Arial"/>
                <a:cs typeface="Arial"/>
              </a:rPr>
              <a:t>Interpret and review application requirements.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165627-9C23-480C-8D06-591D991D2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276600"/>
            <a:ext cx="5000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F6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6F2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6F2FF"/>
                </a:solidFill>
                <a:latin typeface="Arial"/>
                <a:ea typeface="Arial"/>
                <a:cs typeface="Arial"/>
              </a:rPr>
              <a:t>Customise screens before building.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87BC0E-1367-4DE6-A8CF-37B8E9D23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114800"/>
            <a:ext cx="5000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F6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6F2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6F2FF"/>
                </a:solidFill>
                <a:latin typeface="Arial"/>
                <a:ea typeface="Arial"/>
                <a:cs typeface="Arial"/>
              </a:rPr>
              <a:t>Export source with traceable requirements.</a:t>
            </a:r>
          </a:p>
        </p:txBody>
      </p:sp>
    </p:spTree>
    <p:extLst>
      <p:ext uri="{BB962C8B-B14F-4D97-AF65-F5344CB8AC3E}">
        <p14:creationId xmlns:p14="http://schemas.microsoft.com/office/powerpoint/2010/main" val="265004507"/>
      </p:ext>
    </p:extLst>
  </p:cSld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1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/>
                                  <p:tgtEl>
                                    <p:spTgt spid="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500" fill="hold"/>
                                  <p:tgtEl>
                                    <p:spTgt spid="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withEffect">
                            <p:stCondLst>
                              <p:cond delay="100"/>
                            </p:stCondLst>
                            <p:childTnLst>
                              <p:set>
                                <p:cBhvr>
                                  <p:cTn id="14" dur="1" fill="hold"/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500" fill="hold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17" dur="1" fill="hold"/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500" fill="hold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20" dur="1" fill="hold"/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500" fill="hold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23" dur="1" fill="hold"/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500" fill="hold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10" presetClass="entr" presetSubtype="0" fill="hold" nodeType="withEffect">
                            <p:stCondLst>
                              <p:cond delay="500"/>
                            </p:stCondLst>
                            <p:childTnLst>
                              <p:set>
                                <p:cBhvr>
                                  <p:cTn id="26" dur="1" fill="hold"/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500" fill="hold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10" presetClass="entr" presetSubtype="0" fill="hold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29" dur="1" fill="hold"/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500" fill="hold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10" presetClass="entr" presetSubtype="0" fill="hold" nodeType="withEffect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32" dur="1" fill="hold"/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500" fill="hold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presetID="10" presetClass="entr" presetSubtype="0" fill="hold" nodeType="withEffect">
                            <p:stCondLst>
                              <p:cond delay="800"/>
                            </p:stCondLst>
                            <p:childTnLst>
                              <p:set>
                                <p:cBhvr>
                                  <p:cTn id="35" dur="1" fill="hold"/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500" fill="hold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7" presetID="10" presetClass="entr" presetSubtype="0" fill="hold" nodeType="withEffect">
                            <p:stCondLst>
                              <p:cond delay="900"/>
                            </p:stCondLst>
                            <p:childTnLst>
                              <p:set>
                                <p:cBhvr>
                                  <p:cTn id="38" dur="1" fill="hold"/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9" dur="500" fill="hold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0" presetID="10" presetClass="entr" presetSubtype="0" fill="hold" nodeType="withEffect">
                            <p:stCondLst>
                              <p:cond delay="1000"/>
                            </p:stCondLst>
                            <p:childTnLst>
                              <p:set>
                                <p:cBhvr>
                                  <p:cTn id="41" dur="1" fill="hold"/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500" fill="hold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917E09-A90B-4444-BF3D-EBC04973F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2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27203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72033"/>
                </a:solidFill>
                <a:latin typeface="Arial"/>
                <a:ea typeface="Arial"/>
                <a:cs typeface="Arial"/>
              </a:rPr>
              <a:t>Project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6B1E87-A370-4F18-997D-D57437090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1076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>
                <a:solidFill>
                  <a:srgbClr val="70459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70459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0459E"/>
                </a:solidFill>
                <a:latin typeface="Arial"/>
                <a:ea typeface="Arial"/>
                <a:cs typeface="Arial"/>
              </a:rPr>
              <a:t>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3B7F3D-DC67-44C8-B7C5-AEAD4E206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65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65B7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5B7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77E85A-ED63-4A1B-9D87-4A1C0D1C8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61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1">
                <a:solidFill>
                  <a:srgbClr val="70459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70459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0459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012A5E-1EA9-490A-9582-F175CB268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790700"/>
            <a:ext cx="1009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7203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72033"/>
                </a:solidFill>
                <a:latin typeface="Arial"/>
                <a:ea typeface="Arial"/>
                <a:cs typeface="Arial"/>
              </a:rPr>
              <a:t>Small-business commerce applications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5BCE27-EB59-470A-9BD5-747B6ECA5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05100"/>
            <a:ext cx="61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1">
                <a:solidFill>
                  <a:srgbClr val="70459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70459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0459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D49194-5438-49C3-94A7-D8542E3A4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05100"/>
            <a:ext cx="1009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7203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72033"/>
                </a:solidFill>
                <a:latin typeface="Arial"/>
                <a:ea typeface="Arial"/>
                <a:cs typeface="Arial"/>
              </a:rPr>
              <a:t>Ten standard screens and custom information pages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67F676-67B0-46D1-B491-7523E73E8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0"/>
            <a:ext cx="61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1">
                <a:solidFill>
                  <a:srgbClr val="70459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70459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0459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BF6578-43BA-47F7-AD63-B6411CC8D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19500"/>
            <a:ext cx="1009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7203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72033"/>
                </a:solidFill>
                <a:latin typeface="Arial"/>
                <a:ea typeface="Arial"/>
                <a:cs typeface="Arial"/>
              </a:rPr>
              <a:t>Editable requirements, design review and source export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4C562B-BC3C-49E8-B2ED-3127DF89D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33900"/>
            <a:ext cx="61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1">
                <a:solidFill>
                  <a:srgbClr val="70459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70459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0459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0778E2-0E65-4CD4-A2BB-94F962887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33900"/>
            <a:ext cx="1009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7203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72033"/>
                </a:solidFill>
                <a:latin typeface="Arial"/>
                <a:ea typeface="Arial"/>
                <a:cs typeface="Arial"/>
              </a:rPr>
              <a:t>React Native / Expo output with browser viewport review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A7B2F8-FBE4-43E5-95E6-D782E7CDB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2455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665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65B7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5B76"/>
                </a:solidFill>
                <a:latin typeface="Arial"/>
                <a:ea typeface="Arial"/>
                <a:cs typeface="Arial"/>
              </a:rPr>
              <a:t>Outside current capability: real payments, arbitrary business logic and automatic store publication.</a:t>
            </a:r>
          </a:p>
        </p:txBody>
      </p:sp>
    </p:spTree>
    <p:extLst>
      <p:ext uri="{BB962C8B-B14F-4D97-AF65-F5344CB8AC3E}">
        <p14:creationId xmlns:p14="http://schemas.microsoft.com/office/powerpoint/2010/main" val="377426186"/>
      </p:ext>
    </p:extLst>
  </p:cSld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1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/>
                                  <p:tgtEl>
                                    <p:spTgt spid="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500" fill="hold"/>
                                  <p:tgtEl>
                                    <p:spTgt spid="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withEffect">
                            <p:stCondLst>
                              <p:cond delay="100"/>
                            </p:stCondLst>
                            <p:childTnLst>
                              <p:set>
                                <p:cBhvr>
                                  <p:cTn id="14" dur="1" fill="hold"/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500" fill="hold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22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17" dur="1" fill="hold"/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8" dur="500" fill="hold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22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20" dur="1" fill="hold"/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1" dur="500" fill="hold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22" presetClass="entr" presetSubtype="0" fill="hold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23" dur="1" fill="hold"/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4" dur="500" fill="hold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22" presetClass="entr" presetSubtype="0" fill="hold" nodeType="withEffect">
                            <p:stCondLst>
                              <p:cond delay="500"/>
                            </p:stCondLst>
                            <p:childTnLst>
                              <p:set>
                                <p:cBhvr>
                                  <p:cTn id="26" dur="1" fill="hold"/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7" dur="500" fill="hold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22" presetClass="entr" presetSubtype="0" fill="hold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29" dur="1" fill="hold"/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30" dur="500" fill="hold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22" presetClass="entr" presetSubtype="0" fill="hold" nodeType="withEffect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32" dur="1" fill="hold"/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33" dur="500" fill="hold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8543FC-0CDA-42FE-9ED9-E7679DDA9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2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27203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72033"/>
                </a:solidFill>
                <a:latin typeface="Arial"/>
                <a:ea typeface="Arial"/>
                <a:cs typeface="Arial"/>
              </a:rPr>
              <a:t>Implementation changes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1CD975-21FC-4B69-BB34-448BBFD8A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1076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>
                <a:solidFill>
                  <a:srgbClr val="70459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70459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0459E"/>
                </a:solidFill>
                <a:latin typeface="Arial"/>
                <a:ea typeface="Arial"/>
                <a:cs typeface="Arial"/>
              </a:rPr>
              <a:t>PROPOSAL ALIGNMENT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52DAE0-F4D1-426F-8183-E36EDB7AA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65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65B7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5B7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7536DA-322B-4659-8404-C534E68CECCD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762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667250"/>
                <a:gridCol w="6305550"/>
              </a:tblGrid>
              <a:tr h="62706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Approved direction</a:t>
                      </a:r>
                    </a:p>
                  </a:txBody>
                  <a:tcPr marL="114300" marR="114300" marT="95250" marB="76200">
                    <a:solidFill>
                      <a:srgbClr val="7045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Current implementation</a:t>
                      </a:r>
                    </a:p>
                  </a:txBody>
                  <a:tcPr marL="114300" marR="114300" marT="95250" marB="76200">
                    <a:solidFill>
                      <a:srgbClr val="70459E"/>
                    </a:solidFill>
                  </a:tcPr>
                </a:tc>
              </a:tr>
              <a:tr h="62706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72033"/>
                          </a:solidFill>
                          <a:latin typeface="Arial"/>
                          <a:ea typeface="Arial"/>
                          <a:cs typeface="Arial"/>
                        </a:rPr>
                        <a:t>Flutter / Dart</a:t>
                      </a:r>
                    </a:p>
                  </a:txBody>
                  <a:tcPr marL="114300" marR="114300" marT="9525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72033"/>
                          </a:solidFill>
                          <a:latin typeface="Arial"/>
                          <a:ea typeface="Arial"/>
                          <a:cs typeface="Arial"/>
                        </a:rPr>
                        <a:t>React Native / JavaScript with Expo</a:t>
                      </a:r>
                    </a:p>
                  </a:txBody>
                  <a:tcPr marL="114300" marR="114300" marT="95250" marB="76200">
                    <a:solidFill>
                      <a:srgbClr val="FFFFFF"/>
                    </a:solidFill>
                  </a:tcPr>
                </a:tc>
              </a:tr>
              <a:tr h="62706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72033"/>
                          </a:solidFill>
                          <a:latin typeface="Arial"/>
                          <a:ea typeface="Arial"/>
                          <a:cs typeface="Arial"/>
                        </a:rPr>
                        <a:t>Fully local generation</a:t>
                      </a:r>
                    </a:p>
                  </a:txBody>
                  <a:tcPr marL="114300" marR="114300" marT="95250" marB="76200">
                    <a:solidFill>
                      <a:srgbClr val="EEE8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72033"/>
                          </a:solidFill>
                          <a:latin typeface="Arial"/>
                          <a:ea typeface="Arial"/>
                          <a:cs typeface="Arial"/>
                        </a:rPr>
                        <a:t>Local models + RAG + Planner</a:t>
                      </a:r>
                    </a:p>
                  </a:txBody>
                  <a:tcPr marL="114300" marR="114300" marT="95250" marB="76200">
                    <a:solidFill>
                      <a:srgbClr val="EEE8F6"/>
                    </a:solidFill>
                  </a:tcPr>
                </a:tc>
              </a:tr>
              <a:tr h="62706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72033"/>
                          </a:solidFill>
                          <a:latin typeface="Arial"/>
                          <a:ea typeface="Arial"/>
                          <a:cs typeface="Arial"/>
                        </a:rPr>
                        <a:t>Eight standard page types</a:t>
                      </a:r>
                    </a:p>
                  </a:txBody>
                  <a:tcPr marL="114300" marR="114300" marT="9525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72033"/>
                          </a:solidFill>
                          <a:latin typeface="Arial"/>
                          <a:ea typeface="Arial"/>
                          <a:cs typeface="Arial"/>
                        </a:rPr>
                        <a:t>Ten standard types + read-only custom pages</a:t>
                      </a:r>
                    </a:p>
                  </a:txBody>
                  <a:tcPr marL="114300" marR="114300" marT="95250" marB="76200">
                    <a:solidFill>
                      <a:srgbClr val="FFFFFF"/>
                    </a:solidFill>
                  </a:tcPr>
                </a:tc>
              </a:tr>
              <a:tr h="62706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72033"/>
                          </a:solidFill>
                          <a:latin typeface="Arial"/>
                          <a:ea typeface="Arial"/>
                          <a:cs typeface="Arial"/>
                        </a:rPr>
                        <a:t>MongoDB project storage</a:t>
                      </a:r>
                    </a:p>
                  </a:txBody>
                  <a:tcPr marL="114300" marR="114300" marT="95250" marB="76200">
                    <a:solidFill>
                      <a:srgbClr val="EEE8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72033"/>
                          </a:solidFill>
                          <a:latin typeface="Arial"/>
                          <a:ea typeface="Arial"/>
                          <a:cs typeface="Arial"/>
                        </a:rPr>
                        <a:t>SQLite active; MongoDB support retained</a:t>
                      </a:r>
                    </a:p>
                  </a:txBody>
                  <a:tcPr marL="114300" marR="114300" marT="95250" marB="76200">
                    <a:solidFill>
                      <a:srgbClr val="EEE8F6"/>
                    </a:solidFill>
                  </a:tcPr>
                </a:tc>
              </a:tr>
              <a:tr h="62706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72033"/>
                          </a:solidFill>
                          <a:latin typeface="Arial"/>
                          <a:ea typeface="Arial"/>
                          <a:cs typeface="Arial"/>
                        </a:rPr>
                        <a:t>Firebase cloud-service setup</a:t>
                      </a:r>
                    </a:p>
                  </a:txBody>
                  <a:tcPr marL="114300" marR="114300" marT="9525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72033"/>
                          </a:solidFill>
                          <a:latin typeface="Arial"/>
                          <a:ea typeface="Arial"/>
                          <a:cs typeface="Arial"/>
                        </a:rPr>
                        <a:t>Hosting path; full service setup remains partial</a:t>
                      </a:r>
                    </a:p>
                  </a:txBody>
                  <a:tcPr marL="114300" marR="114300" marT="95250" marB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C25797-FCBD-4273-B8C1-A6F06969B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2455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665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65B7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5B76"/>
                </a:solidFill>
                <a:latin typeface="Arial"/>
                <a:ea typeface="Arial"/>
                <a:cs typeface="Arial"/>
              </a:rPr>
              <a:t>React Native supports reusable components and a browser build through React Native Web.</a:t>
            </a:r>
          </a:p>
        </p:txBody>
      </p:sp>
    </p:spTree>
    <p:extLst>
      <p:ext uri="{BB962C8B-B14F-4D97-AF65-F5344CB8AC3E}">
        <p14:creationId xmlns:p14="http://schemas.microsoft.com/office/powerpoint/2010/main" val="1840951015"/>
      </p:ext>
    </p:extLst>
  </p:cSld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1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/>
                                  <p:tgtEl>
                                    <p:spTgt spid="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500" fill="hold"/>
                                  <p:tgtEl>
                                    <p:spTgt spid="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withEffect">
                            <p:stCondLst>
                              <p:cond delay="100"/>
                            </p:stCondLst>
                            <p:childTnLst>
                              <p:set>
                                <p:cBhvr>
                                  <p:cTn id="14" dur="1" fill="hold"/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500" fill="hold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2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17" dur="1" fill="hold"/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lide(fromBottom)">
                                <p:cBhvr>
                                  <p:cTn id="18" dur="500" fill="hold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2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20" dur="1" fill="hold"/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lide(fromBottom)">
                                <p:cBhvr>
                                  <p:cTn id="21" dur="500" fill="hold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2" presetClass="entr" presetSubtype="0" fill="hold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23" dur="1" fill="hold"/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lide(fromBottom)">
                                <p:cBhvr>
                                  <p:cTn id="24" dur="500" fill="hold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210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E4EA20-0BF6-4097-89A0-42115AE8E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F6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6F2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6F2FF"/>
                </a:solidFill>
                <a:latin typeface="Arial"/>
                <a:ea typeface="Arial"/>
                <a:cs typeface="Arial"/>
              </a:rPr>
              <a:t>User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7E1ED6-7363-4ECD-A2DA-71EF4FE94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1076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>
                <a:solidFill>
                  <a:srgbClr val="B592E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592E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592E5"/>
                </a:solidFill>
                <a:latin typeface="Arial"/>
                <a:ea typeface="Arial"/>
                <a:cs typeface="Arial"/>
              </a:rPr>
              <a:t>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0F2653-F39B-4B1C-BB7D-0FC14C4E2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C4BCD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C4BCD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4BCD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DF7F50-B60F-4448-9685-BCB592485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62125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1">
                <a:solidFill>
                  <a:srgbClr val="B592E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B592E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B592E5"/>
                </a:solidFill>
                <a:latin typeface="Arial"/>
                <a:ea typeface="Arial"/>
                <a:cs typeface="Arial"/>
              </a:rPr>
              <a:t>Plan and approve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417C8A-A49B-4062-B651-DC2AB050B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762125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1">
                <a:solidFill>
                  <a:srgbClr val="B592E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B592E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B592E5"/>
                </a:solidFill>
                <a:latin typeface="Arial"/>
                <a:ea typeface="Arial"/>
                <a:cs typeface="Arial"/>
              </a:rPr>
              <a:t>Build and inspect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8E2254-D89C-49BE-A280-2BD34086B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38400"/>
            <a:ext cx="5000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F6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6F2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6F2FF"/>
                </a:solidFill>
                <a:latin typeface="Arial"/>
                <a:ea typeface="Arial"/>
                <a:cs typeface="Arial"/>
              </a:rPr>
              <a:t>01  Describe the application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B92FA7-2845-4505-8601-FDEAB32A8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76600"/>
            <a:ext cx="5000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F6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6F2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6F2FF"/>
                </a:solidFill>
                <a:latin typeface="Arial"/>
                <a:ea typeface="Arial"/>
                <a:cs typeface="Arial"/>
              </a:rPr>
              <a:t>02  Review functional requirements and SRS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0BB279-C32F-4710-BC0F-156BA58CC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14800"/>
            <a:ext cx="5000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F6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6F2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6F2FF"/>
                </a:solidFill>
                <a:latin typeface="Arial"/>
                <a:ea typeface="Arial"/>
                <a:cs typeface="Arial"/>
              </a:rPr>
              <a:t>03  Customise and accept screens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A23C32-2F18-451F-8F8B-2EE45495B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38400"/>
            <a:ext cx="5000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F6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6F2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6F2FF"/>
                </a:solidFill>
                <a:latin typeface="Arial"/>
                <a:ea typeface="Arial"/>
                <a:cs typeface="Arial"/>
              </a:rPr>
              <a:t>04  Assemble source and run build checks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6577F3-75AA-4B4A-AF3C-AF4C7AD23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276600"/>
            <a:ext cx="5000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F6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6F2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6F2FF"/>
                </a:solidFill>
                <a:latin typeface="Arial"/>
                <a:ea typeface="Arial"/>
                <a:cs typeface="Arial"/>
              </a:rPr>
              <a:t>05  Review Preview, Code and 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349601-59F4-4E57-815F-BB6B3C718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114800"/>
            <a:ext cx="5000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F6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6F2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6F2FF"/>
                </a:solidFill>
                <a:latin typeface="Arial"/>
                <a:ea typeface="Arial"/>
                <a:cs typeface="Arial"/>
              </a:rPr>
              <a:t>06  Download or use configured web hosting</a:t>
            </a:r>
          </a:p>
        </p:txBody>
      </p:sp>
    </p:spTree>
    <p:extLst>
      <p:ext uri="{BB962C8B-B14F-4D97-AF65-F5344CB8AC3E}">
        <p14:creationId xmlns:p14="http://schemas.microsoft.com/office/powerpoint/2010/main" val="209224431"/>
      </p:ext>
    </p:extLst>
  </p:cSld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1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/>
                                  <p:tgtEl>
                                    <p:spTgt spid="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500" fill="hold"/>
                                  <p:tgtEl>
                                    <p:spTgt spid="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withEffect">
                            <p:stCondLst>
                              <p:cond delay="100"/>
                            </p:stCondLst>
                            <p:childTnLst>
                              <p:set>
                                <p:cBhvr>
                                  <p:cTn id="14" dur="1" fill="hold"/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500" fill="hold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17" dur="1" fill="hold"/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500" fill="hold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20" dur="1" fill="hold"/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500" fill="hold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23" dur="1" fill="hold"/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500" fill="hold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10" presetClass="entr" presetSubtype="0" fill="hold" nodeType="withEffect">
                            <p:stCondLst>
                              <p:cond delay="500"/>
                            </p:stCondLst>
                            <p:childTnLst>
                              <p:set>
                                <p:cBhvr>
                                  <p:cTn id="26" dur="1" fill="hold"/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500" fill="hold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10" presetClass="entr" presetSubtype="0" fill="hold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29" dur="1" fill="hold"/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500" fill="hold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10" presetClass="entr" presetSubtype="0" fill="hold" nodeType="withEffect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32" dur="1" fill="hold"/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500" fill="hold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presetID="10" presetClass="entr" presetSubtype="0" fill="hold" nodeType="withEffect">
                            <p:stCondLst>
                              <p:cond delay="800"/>
                            </p:stCondLst>
                            <p:childTnLst>
                              <p:set>
                                <p:cBhvr>
                                  <p:cTn id="35" dur="1" fill="hold"/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500" fill="hold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7" presetID="10" presetClass="entr" presetSubtype="0" fill="hold" nodeType="withEffect">
                            <p:stCondLst>
                              <p:cond delay="900"/>
                            </p:stCondLst>
                            <p:childTnLst>
                              <p:set>
                                <p:cBhvr>
                                  <p:cTn id="38" dur="1" fill="hold"/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9" dur="500" fill="hold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0" presetID="10" presetClass="entr" presetSubtype="0" fill="hold" nodeType="withEffect">
                            <p:stCondLst>
                              <p:cond delay="1000"/>
                            </p:stCondLst>
                            <p:childTnLst>
                              <p:set>
                                <p:cBhvr>
                                  <p:cTn id="41" dur="1" fill="hold"/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500" fill="hold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6FBF90-D659-43F3-B08F-40811268B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2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27203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72033"/>
                </a:solidFill>
                <a:latin typeface="Arial"/>
                <a:ea typeface="Arial"/>
                <a:cs typeface="Arial"/>
              </a:rPr>
              <a:t>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BB128D-91CD-4D75-BCAC-EA1AC440A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1076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>
                <a:solidFill>
                  <a:srgbClr val="70459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70459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0459E"/>
                </a:solidFill>
                <a:latin typeface="Arial"/>
                <a:ea typeface="Arial"/>
                <a:cs typeface="Arial"/>
              </a:rPr>
              <a:t>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B92763-F90C-4DDD-97B9-0AC2F9C42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65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65B7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5B7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321E58-8545-43F5-9E6D-55265AD0C9F0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7067550"/>
              </a:tblGrid>
              <a:tr h="6667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Layer</a:t>
                      </a:r>
                    </a:p>
                  </a:txBody>
                  <a:tcPr marL="114300" marR="114300" marT="95250" marB="76200">
                    <a:solidFill>
                      <a:srgbClr val="7045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Responsibility</a:t>
                      </a:r>
                    </a:p>
                  </a:txBody>
                  <a:tcPr marL="114300" marR="114300" marT="95250" marB="76200">
                    <a:solidFill>
                      <a:srgbClr val="70459E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72033"/>
                          </a:solidFill>
                          <a:latin typeface="Arial"/>
                          <a:ea typeface="Arial"/>
                          <a:cs typeface="Arial"/>
                        </a:rPr>
                        <a:t>React + TypeScript workspace</a:t>
                      </a:r>
                    </a:p>
                  </a:txBody>
                  <a:tcPr marL="114300" marR="114300" marT="9525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72033"/>
                          </a:solidFill>
                          <a:latin typeface="Arial"/>
                          <a:ea typeface="Arial"/>
                          <a:cs typeface="Arial"/>
                        </a:rPr>
                        <a:t>Input, review, design controls and code exploration</a:t>
                      </a:r>
                    </a:p>
                  </a:txBody>
                  <a:tcPr marL="114300" marR="114300" marT="95250" marB="7620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72033"/>
                          </a:solidFill>
                          <a:latin typeface="Arial"/>
                          <a:ea typeface="Arial"/>
                          <a:cs typeface="Arial"/>
                        </a:rPr>
                        <a:t>Python + FastAPI backend</a:t>
                      </a:r>
                    </a:p>
                  </a:txBody>
                  <a:tcPr marL="114300" marR="114300" marT="95250" marB="76200">
                    <a:solidFill>
                      <a:srgbClr val="EEE8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72033"/>
                          </a:solidFill>
                          <a:latin typeface="Arial"/>
                          <a:ea typeface="Arial"/>
                          <a:cs typeface="Arial"/>
                        </a:rPr>
                        <a:t>Validation, planning, state and background builds</a:t>
                      </a:r>
                    </a:p>
                  </a:txBody>
                  <a:tcPr marL="114300" marR="114300" marT="95250" marB="76200">
                    <a:solidFill>
                      <a:srgbClr val="EEE8F6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72033"/>
                          </a:solidFill>
                          <a:latin typeface="Arial"/>
                          <a:ea typeface="Arial"/>
                          <a:cs typeface="Arial"/>
                        </a:rPr>
                        <a:t>Models + retrieval + planner</a:t>
                      </a:r>
                    </a:p>
                  </a:txBody>
                  <a:tcPr marL="114300" marR="114300" marT="9525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72033"/>
                          </a:solidFill>
                          <a:latin typeface="Arial"/>
                          <a:ea typeface="Arial"/>
                          <a:cs typeface="Arial"/>
                        </a:rPr>
                        <a:t>Predictions, relevant references and structured plans</a:t>
                      </a:r>
                    </a:p>
                  </a:txBody>
                  <a:tcPr marL="114300" marR="114300" marT="95250" marB="7620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72033"/>
                          </a:solidFill>
                          <a:latin typeface="Arial"/>
                          <a:ea typeface="Arial"/>
                          <a:cs typeface="Arial"/>
                        </a:rPr>
                        <a:t>Storage + project artifacts</a:t>
                      </a:r>
                    </a:p>
                  </a:txBody>
                  <a:tcPr marL="114300" marR="114300" marT="95250" marB="76200">
                    <a:solidFill>
                      <a:srgbClr val="EEE8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72033"/>
                          </a:solidFill>
                          <a:latin typeface="Arial"/>
                          <a:ea typeface="Arial"/>
                          <a:cs typeface="Arial"/>
                        </a:rPr>
                        <a:t>SQLite records, source files and browser bundles</a:t>
                      </a:r>
                    </a:p>
                  </a:txBody>
                  <a:tcPr marL="114300" marR="114300" marT="95250" marB="76200">
                    <a:solidFill>
                      <a:srgbClr val="EEE8F6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638FE0-A6BE-4EAE-80B9-A4E4289EB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2455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665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65B7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5B76"/>
                </a:solidFill>
                <a:latin typeface="Arial"/>
                <a:ea typeface="Arial"/>
                <a:cs typeface="Arial"/>
              </a:rPr>
              <a:t>The authoring service and the generated customer application are separate systems.</a:t>
            </a:r>
          </a:p>
        </p:txBody>
      </p:sp>
    </p:spTree>
    <p:extLst>
      <p:ext uri="{BB962C8B-B14F-4D97-AF65-F5344CB8AC3E}">
        <p14:creationId xmlns:p14="http://schemas.microsoft.com/office/powerpoint/2010/main" val="440181751"/>
      </p:ext>
    </p:extLst>
  </p:cSld>
  <p:transition spd="med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1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/>
                                  <p:tgtEl>
                                    <p:spTgt spid="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500" fill="hold"/>
                                  <p:tgtEl>
                                    <p:spTgt spid="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withEffect">
                            <p:stCondLst>
                              <p:cond delay="100"/>
                            </p:stCondLst>
                            <p:childTnLst>
                              <p:set>
                                <p:cBhvr>
                                  <p:cTn id="14" dur="1" fill="hold"/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500" fill="hold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22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17" dur="1" fill="hold"/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8" dur="500" fill="hold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22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20" dur="1" fill="hold"/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1" dur="500" fill="hold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22" presetClass="entr" presetSubtype="0" fill="hold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23" dur="1" fill="hold"/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4" dur="500" fill="hold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7572BA-20EE-49B3-86A8-46FB0FA73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2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27203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72033"/>
                </a:solidFill>
                <a:latin typeface="Arial"/>
                <a:ea typeface="Arial"/>
                <a:cs typeface="Arial"/>
              </a:rPr>
              <a:t>Models and planning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799CA5-640F-468A-A1B5-3DC1C5994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1076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>
                <a:solidFill>
                  <a:srgbClr val="70459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70459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0459E"/>
                </a:solidFill>
                <a:latin typeface="Arial"/>
                <a:ea typeface="Arial"/>
                <a:cs typeface="Arial"/>
              </a:rPr>
              <a:t>INTELLIGENCE PIPELINE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4AAD1B-84D4-43AB-8F13-0BA3740B2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65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65B7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5B7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BD95AF-0FC0-43F4-9A40-21A85DE3625E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7829550"/>
              </a:tblGrid>
              <a:tr h="6508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Component</a:t>
                      </a:r>
                    </a:p>
                  </a:txBody>
                  <a:tcPr marL="114300" marR="114300" marT="95250" marB="76200">
                    <a:solidFill>
                      <a:srgbClr val="7045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Current responsibility</a:t>
                      </a:r>
                    </a:p>
                  </a:txBody>
                  <a:tcPr marL="114300" marR="114300" marT="95250" marB="76200">
                    <a:solidFill>
                      <a:srgbClr val="70459E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72033"/>
                          </a:solidFill>
                          <a:latin typeface="Arial"/>
                          <a:ea typeface="Arial"/>
                          <a:cs typeface="Arial"/>
                        </a:rPr>
                        <a:t>DistilBERT</a:t>
                      </a:r>
                    </a:p>
                  </a:txBody>
                  <a:tcPr marL="114300" marR="114300" marT="9525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72033"/>
                          </a:solidFill>
                          <a:latin typeface="Arial"/>
                          <a:ea typeface="Arial"/>
                          <a:cs typeface="Arial"/>
                        </a:rPr>
                        <a:t>Business, screen, feature and style suggestions</a:t>
                      </a:r>
                    </a:p>
                  </a:txBody>
                  <a:tcPr marL="114300" marR="114300" marT="95250" marB="76200"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72033"/>
                          </a:solidFill>
                          <a:latin typeface="Arial"/>
                          <a:ea typeface="Arial"/>
                          <a:cs typeface="Arial"/>
                        </a:rPr>
                        <a:t>Random Forest</a:t>
                      </a:r>
                    </a:p>
                  </a:txBody>
                  <a:tcPr marL="114300" marR="114300" marT="95250" marB="76200">
                    <a:solidFill>
                      <a:srgbClr val="EEE8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72033"/>
                          </a:solidFill>
                          <a:latin typeface="Arial"/>
                          <a:ea typeface="Arial"/>
                          <a:cs typeface="Arial"/>
                        </a:rPr>
                        <a:t>Ranking available layout choices</a:t>
                      </a:r>
                    </a:p>
                  </a:txBody>
                  <a:tcPr marL="114300" marR="114300" marT="95250" marB="76200">
                    <a:solidFill>
                      <a:srgbClr val="EEE8F6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72033"/>
                          </a:solidFill>
                          <a:latin typeface="Arial"/>
                          <a:ea typeface="Arial"/>
                          <a:cs typeface="Arial"/>
                        </a:rPr>
                        <a:t>CodeT5</a:t>
                      </a:r>
                    </a:p>
                  </a:txBody>
                  <a:tcPr marL="114300" marR="114300" marT="9525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72033"/>
                          </a:solidFill>
                          <a:latin typeface="Arial"/>
                          <a:ea typeface="Arial"/>
                          <a:cs typeface="Arial"/>
                        </a:rPr>
                        <a:t>ProductCard candidate generation and validation</a:t>
                      </a:r>
                    </a:p>
                  </a:txBody>
                  <a:tcPr marL="114300" marR="114300" marT="95250" marB="76200"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72033"/>
                          </a:solidFill>
                          <a:latin typeface="Arial"/>
                          <a:ea typeface="Arial"/>
                          <a:cs typeface="Arial"/>
                        </a:rPr>
                        <a:t>RAG</a:t>
                      </a:r>
                    </a:p>
                  </a:txBody>
                  <a:tcPr marL="114300" marR="114300" marT="95250" marB="76200">
                    <a:solidFill>
                      <a:srgbClr val="EEE8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72033"/>
                          </a:solidFill>
                          <a:latin typeface="Arial"/>
                          <a:ea typeface="Arial"/>
                          <a:cs typeface="Arial"/>
                        </a:rPr>
                        <a:t>Component references and layout-training examples</a:t>
                      </a:r>
                    </a:p>
                  </a:txBody>
                  <a:tcPr marL="114300" marR="114300" marT="95250" marB="76200">
                    <a:solidFill>
                      <a:srgbClr val="EEE8F6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72033"/>
                          </a:solidFill>
                          <a:latin typeface="Arial"/>
                          <a:ea typeface="Arial"/>
                          <a:cs typeface="Arial"/>
                        </a:rPr>
                        <a:t>Planner</a:t>
                      </a:r>
                    </a:p>
                  </a:txBody>
                  <a:tcPr marL="114300" marR="114300" marT="9525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72033"/>
                          </a:solidFill>
                          <a:latin typeface="Arial"/>
                          <a:ea typeface="Arial"/>
                          <a:cs typeface="Arial"/>
                        </a:rPr>
                        <a:t>Requirements, design and custom-screen specifications</a:t>
                      </a:r>
                    </a:p>
                  </a:txBody>
                  <a:tcPr marL="114300" marR="114300" marT="95250" marB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4757794"/>
      </p:ext>
    </p:extLst>
  </p:cSld>
  <p:transition spd="med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1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/>
                                  <p:tgtEl>
                                    <p:spTgt spid="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500" fill="hold"/>
                                  <p:tgtEl>
                                    <p:spTgt spid="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withEffect">
                            <p:stCondLst>
                              <p:cond delay="100"/>
                            </p:stCondLst>
                            <p:childTnLst>
                              <p:set>
                                <p:cBhvr>
                                  <p:cTn id="14" dur="1" fill="hold"/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500" fill="hold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2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17" dur="1" fill="hold"/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lide(fromBottom)">
                                <p:cBhvr>
                                  <p:cTn id="18" dur="500" fill="hold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2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20" dur="1" fill="hold"/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lide(fromBottom)">
                                <p:cBhvr>
                                  <p:cTn id="21" dur="500" fill="hold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55D707-51E0-4295-86EF-10B5AA72C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2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27203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72033"/>
                </a:solidFill>
                <a:latin typeface="Arial"/>
                <a:ea typeface="Arial"/>
                <a:cs typeface="Arial"/>
              </a:rPr>
              <a:t>Datasets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F51C0B-6308-4FDC-9A56-3ACE7C34C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1076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>
                <a:solidFill>
                  <a:srgbClr val="70459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70459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0459E"/>
                </a:solidFill>
                <a:latin typeface="Arial"/>
                <a:ea typeface="Arial"/>
                <a:cs typeface="Arial"/>
              </a:rPr>
              <a:t>TRAINING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5F8BC0-CF89-4911-9109-45A404DCA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65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65B7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5B7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6F0F90-F903-4B86-8D5E-93AFD07DA96C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2714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572000"/>
                <a:gridCol w="1600200"/>
                <a:gridCol w="1600200"/>
                <a:gridCol w="1600200"/>
                <a:gridCol w="1600200"/>
              </a:tblGrid>
              <a:tr h="678656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Dataset</a:t>
                      </a:r>
                    </a:p>
                  </a:txBody>
                  <a:tcPr marL="114300" marR="114300" marT="95250" marB="76200">
                    <a:solidFill>
                      <a:srgbClr val="7045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Total</a:t>
                      </a:r>
                    </a:p>
                  </a:txBody>
                  <a:tcPr marL="114300" marR="114300" marT="95250" marB="76200">
                    <a:solidFill>
                      <a:srgbClr val="7045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Train</a:t>
                      </a:r>
                    </a:p>
                  </a:txBody>
                  <a:tcPr marL="114300" marR="114300" marT="95250" marB="76200">
                    <a:solidFill>
                      <a:srgbClr val="7045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Validation</a:t>
                      </a:r>
                    </a:p>
                  </a:txBody>
                  <a:tcPr marL="114300" marR="114300" marT="95250" marB="76200">
                    <a:solidFill>
                      <a:srgbClr val="7045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Test</a:t>
                      </a:r>
                    </a:p>
                  </a:txBody>
                  <a:tcPr marL="114300" marR="114300" marT="95250" marB="76200">
                    <a:solidFill>
                      <a:srgbClr val="70459E"/>
                    </a:solidFill>
                  </a:tcPr>
                </a:tc>
              </a:tr>
              <a:tr h="678656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72033"/>
                          </a:solidFill>
                          <a:latin typeface="Arial"/>
                          <a:ea typeface="Arial"/>
                          <a:cs typeface="Arial"/>
                        </a:rPr>
                        <a:t>Requirement intake</a:t>
                      </a:r>
                    </a:p>
                  </a:txBody>
                  <a:tcPr marL="114300" marR="114300" marT="9525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72033"/>
                          </a:solidFill>
                          <a:latin typeface="Arial"/>
                          <a:ea typeface="Arial"/>
                          <a:cs typeface="Arial"/>
                        </a:rPr>
                        <a:t>720</a:t>
                      </a:r>
                    </a:p>
                  </a:txBody>
                  <a:tcPr marL="114300" marR="114300" marT="9525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72033"/>
                          </a:solidFill>
                          <a:latin typeface="Arial"/>
                          <a:ea typeface="Arial"/>
                          <a:cs typeface="Arial"/>
                        </a:rPr>
                        <a:t>576</a:t>
                      </a:r>
                    </a:p>
                  </a:txBody>
                  <a:tcPr marL="114300" marR="114300" marT="9525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72033"/>
                          </a:solidFill>
                          <a:latin typeface="Arial"/>
                          <a:ea typeface="Arial"/>
                          <a:cs typeface="Arial"/>
                        </a:rPr>
                        <a:t>72</a:t>
                      </a:r>
                    </a:p>
                  </a:txBody>
                  <a:tcPr marL="114300" marR="114300" marT="9525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72033"/>
                          </a:solidFill>
                          <a:latin typeface="Arial"/>
                          <a:ea typeface="Arial"/>
                          <a:cs typeface="Arial"/>
                        </a:rPr>
                        <a:t>72</a:t>
                      </a:r>
                    </a:p>
                  </a:txBody>
                  <a:tcPr marL="114300" marR="114300" marT="95250" marB="76200">
                    <a:solidFill>
                      <a:srgbClr val="FFFFFF"/>
                    </a:solidFill>
                  </a:tcPr>
                </a:tc>
              </a:tr>
              <a:tr h="678656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72033"/>
                          </a:solidFill>
                          <a:latin typeface="Arial"/>
                          <a:ea typeface="Arial"/>
                          <a:cs typeface="Arial"/>
                        </a:rPr>
                        <a:t>Layout recommendation</a:t>
                      </a:r>
                    </a:p>
                  </a:txBody>
                  <a:tcPr marL="114300" marR="114300" marT="95250" marB="76200">
                    <a:solidFill>
                      <a:srgbClr val="EEE8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72033"/>
                          </a:solidFill>
                          <a:latin typeface="Arial"/>
                          <a:ea typeface="Arial"/>
                          <a:cs typeface="Arial"/>
                        </a:rPr>
                        <a:t>400</a:t>
                      </a:r>
                    </a:p>
                  </a:txBody>
                  <a:tcPr marL="114300" marR="114300" marT="95250" marB="76200">
                    <a:solidFill>
                      <a:srgbClr val="EEE8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72033"/>
                          </a:solidFill>
                          <a:latin typeface="Arial"/>
                          <a:ea typeface="Arial"/>
                          <a:cs typeface="Arial"/>
                        </a:rPr>
                        <a:t>320</a:t>
                      </a:r>
                    </a:p>
                  </a:txBody>
                  <a:tcPr marL="114300" marR="114300" marT="95250" marB="76200">
                    <a:solidFill>
                      <a:srgbClr val="EEE8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72033"/>
                          </a:solidFill>
                          <a:latin typeface="Arial"/>
                          <a:ea typeface="Arial"/>
                          <a:cs typeface="Arial"/>
                        </a:rPr>
                        <a:t>40</a:t>
                      </a:r>
                    </a:p>
                  </a:txBody>
                  <a:tcPr marL="114300" marR="114300" marT="95250" marB="76200">
                    <a:solidFill>
                      <a:srgbClr val="EEE8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72033"/>
                          </a:solidFill>
                          <a:latin typeface="Arial"/>
                          <a:ea typeface="Arial"/>
                          <a:cs typeface="Arial"/>
                        </a:rPr>
                        <a:t>40</a:t>
                      </a:r>
                    </a:p>
                  </a:txBody>
                  <a:tcPr marL="114300" marR="114300" marT="95250" marB="76200">
                    <a:solidFill>
                      <a:srgbClr val="EEE8F6"/>
                    </a:solidFill>
                  </a:tcPr>
                </a:tc>
              </a:tr>
              <a:tr h="678656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72033"/>
                          </a:solidFill>
                          <a:latin typeface="Arial"/>
                          <a:ea typeface="Arial"/>
                          <a:cs typeface="Arial"/>
                        </a:rPr>
                        <a:t>Component-to-code</a:t>
                      </a:r>
                    </a:p>
                  </a:txBody>
                  <a:tcPr marL="114300" marR="114300" marT="9525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72033"/>
                          </a:solidFill>
                          <a:latin typeface="Arial"/>
                          <a:ea typeface="Arial"/>
                          <a:cs typeface="Arial"/>
                        </a:rPr>
                        <a:t>180</a:t>
                      </a:r>
                    </a:p>
                  </a:txBody>
                  <a:tcPr marL="114300" marR="114300" marT="9525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72033"/>
                          </a:solidFill>
                          <a:latin typeface="Arial"/>
                          <a:ea typeface="Arial"/>
                          <a:cs typeface="Arial"/>
                        </a:rPr>
                        <a:t>144</a:t>
                      </a:r>
                    </a:p>
                  </a:txBody>
                  <a:tcPr marL="114300" marR="114300" marT="9525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72033"/>
                          </a:solidFill>
                          <a:latin typeface="Arial"/>
                          <a:ea typeface="Arial"/>
                          <a:cs typeface="Arial"/>
                        </a:rPr>
                        <a:t>18</a:t>
                      </a:r>
                    </a:p>
                  </a:txBody>
                  <a:tcPr marL="114300" marR="114300" marT="9525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72033"/>
                          </a:solidFill>
                          <a:latin typeface="Arial"/>
                          <a:ea typeface="Arial"/>
                          <a:cs typeface="Arial"/>
                        </a:rPr>
                        <a:t>18</a:t>
                      </a:r>
                    </a:p>
                  </a:txBody>
                  <a:tcPr marL="114300" marR="114300" marT="95250" marB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4289C9-FF7B-48FD-AFA3-175E9EF98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05375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1">
                <a:solidFill>
                  <a:srgbClr val="70459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70459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70459E"/>
                </a:solidFill>
                <a:latin typeface="Arial"/>
                <a:ea typeface="Arial"/>
                <a:cs typeface="Arial"/>
              </a:rPr>
              <a:t>80 / 10 / 10 split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FC5F20-D942-4BE6-8ECD-72C5CCA88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2455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665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65B7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5B76"/>
                </a:solidFill>
                <a:latin typeface="Arial"/>
                <a:ea typeface="Arial"/>
                <a:cs typeface="Arial"/>
              </a:rPr>
              <a:t>Current records are synthetic. Broader real-world evaluation remains necessary.</a:t>
            </a:r>
          </a:p>
        </p:txBody>
      </p:sp>
    </p:spTree>
    <p:extLst>
      <p:ext uri="{BB962C8B-B14F-4D97-AF65-F5344CB8AC3E}">
        <p14:creationId xmlns:p14="http://schemas.microsoft.com/office/powerpoint/2010/main" val="729381356"/>
      </p:ext>
    </p:extLst>
  </p:cSld>
  <p:transition spd="med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1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/>
                                  <p:tgtEl>
                                    <p:spTgt spid="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500" fill="hold"/>
                                  <p:tgtEl>
                                    <p:spTgt spid="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withEffect">
                            <p:stCondLst>
                              <p:cond delay="100"/>
                            </p:stCondLst>
                            <p:childTnLst>
                              <p:set>
                                <p:cBhvr>
                                  <p:cTn id="14" dur="1" fill="hold"/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500" fill="hold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17" dur="1" fill="hold"/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500" fill="hold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20" dur="1" fill="hold"/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500" fill="hold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23" dur="1" fill="hold"/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500" fill="hold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10" presetClass="entr" presetSubtype="0" fill="hold" nodeType="withEffect">
                            <p:stCondLst>
                              <p:cond delay="500"/>
                            </p:stCondLst>
                            <p:childTnLst>
                              <p:set>
                                <p:cBhvr>
                                  <p:cTn id="26" dur="1" fill="hold"/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500" fill="hold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210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8514DB-0B88-4274-8398-1146C522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F6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6F2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6F2FF"/>
                </a:solidFill>
                <a:latin typeface="Arial"/>
                <a:ea typeface="Arial"/>
                <a:cs typeface="Arial"/>
              </a:rPr>
              <a:t>Requirements and SRS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29F83C-1BCC-4007-8EA4-9472945E5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1076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>
                <a:solidFill>
                  <a:srgbClr val="B592E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592E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592E5"/>
                </a:solidFill>
                <a:latin typeface="Arial"/>
                <a:ea typeface="Arial"/>
                <a:cs typeface="Arial"/>
              </a:rPr>
              <a:t>IMPLEMENTED FEATURES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2E1078-C422-460D-AD72-7204E0932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C4BCD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C4BCD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4BCD1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DE7953-232E-42CD-8192-3E8013FA1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62125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1">
                <a:solidFill>
                  <a:srgbClr val="B592E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B592E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B592E5"/>
                </a:solidFill>
                <a:latin typeface="Arial"/>
                <a:ea typeface="Arial"/>
                <a:cs typeface="Arial"/>
              </a:rPr>
              <a:t>Reviewable specification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3FDADB-503A-4A7A-9A01-CBE0DE2C1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762125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1">
                <a:solidFill>
                  <a:srgbClr val="B592E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B592E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B592E5"/>
                </a:solidFill>
                <a:latin typeface="Arial"/>
                <a:ea typeface="Arial"/>
                <a:cs typeface="Arial"/>
              </a:rPr>
              <a:t>Document coverage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5754AE-597D-455A-8DE3-FFB327D18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38400"/>
            <a:ext cx="5000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F6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6F2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6F2FF"/>
                </a:solidFill>
                <a:latin typeface="Arial"/>
                <a:ea typeface="Arial"/>
                <a:cs typeface="Arial"/>
              </a:rPr>
              <a:t>Functional requirements with stable IDs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720854-8121-4AB7-AE4E-75902FE94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76600"/>
            <a:ext cx="5000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F6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6F2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6F2FF"/>
                </a:solidFill>
                <a:latin typeface="Arial"/>
                <a:ea typeface="Arial"/>
                <a:cs typeface="Arial"/>
              </a:rPr>
              <a:t>Custom-screen fields included in the FR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674E1F-7F0A-4C72-BB37-EAB223374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14800"/>
            <a:ext cx="5000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F6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6F2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6F2FF"/>
                </a:solidFill>
                <a:latin typeface="Arial"/>
                <a:ea typeface="Arial"/>
                <a:cs typeface="Arial"/>
              </a:rPr>
              <a:t>User editing and approval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B8D899-2A10-4382-8BEE-39FD5A409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38400"/>
            <a:ext cx="5000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F6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6F2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6F2FF"/>
                </a:solidFill>
                <a:latin typeface="Arial"/>
                <a:ea typeface="Arial"/>
                <a:cs typeface="Arial"/>
              </a:rPr>
              <a:t>NFRs, component tree and conceptual entities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7489BC-B954-41AB-96E6-D8C49AC40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276600"/>
            <a:ext cx="5000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F6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6F2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6F2FF"/>
                </a:solidFill>
                <a:latin typeface="Arial"/>
                <a:ea typeface="Arial"/>
                <a:cs typeface="Arial"/>
              </a:rPr>
              <a:t>Sitemap and technology stack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58D52B-B789-40B3-801D-475A3899A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114800"/>
            <a:ext cx="5000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F6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6F2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6F2FF"/>
                </a:solidFill>
                <a:latin typeface="Arial"/>
                <a:ea typeface="Arial"/>
                <a:cs typeface="Arial"/>
              </a:rPr>
              <a:t>PDF, Markdown and JSON export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38E183-CCBD-47AA-BF71-117F261B8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2455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C4BCD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C4BCD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4BCD1"/>
                </a:solidFill>
                <a:latin typeface="Arial"/>
                <a:ea typeface="Arial"/>
                <a:cs typeface="Arial"/>
              </a:rPr>
              <a:t>NFRs are predefined quality targets. Their presence does not certify compliance.</a:t>
            </a:r>
          </a:p>
        </p:txBody>
      </p:sp>
    </p:spTree>
    <p:extLst>
      <p:ext uri="{BB962C8B-B14F-4D97-AF65-F5344CB8AC3E}">
        <p14:creationId xmlns:p14="http://schemas.microsoft.com/office/powerpoint/2010/main" val="2102396961"/>
      </p:ext>
    </p:extLst>
  </p:cSld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1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/>
                                  <p:tgtEl>
                                    <p:spTgt spid="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500" fill="hold"/>
                                  <p:tgtEl>
                                    <p:spTgt spid="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withEffect">
                            <p:stCondLst>
                              <p:cond delay="100"/>
                            </p:stCondLst>
                            <p:childTnLst>
                              <p:set>
                                <p:cBhvr>
                                  <p:cTn id="14" dur="1" fill="hold"/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500" fill="hold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22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17" dur="1" fill="hold"/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8" dur="500" fill="hold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22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20" dur="1" fill="hold"/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1" dur="500" fill="hold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22" presetClass="entr" presetSubtype="0" fill="hold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23" dur="1" fill="hold"/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4" dur="500" fill="hold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22" presetClass="entr" presetSubtype="0" fill="hold" nodeType="withEffect">
                            <p:stCondLst>
                              <p:cond delay="500"/>
                            </p:stCondLst>
                            <p:childTnLst>
                              <p:set>
                                <p:cBhvr>
                                  <p:cTn id="26" dur="1" fill="hold"/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7" dur="500" fill="hold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22" presetClass="entr" presetSubtype="0" fill="hold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29" dur="1" fill="hold"/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30" dur="500" fill="hold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22" presetClass="entr" presetSubtype="0" fill="hold" nodeType="withEffect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32" dur="1" fill="hold"/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33" dur="500" fill="hold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presetID="22" presetClass="entr" presetSubtype="0" fill="hold" nodeType="withEffect">
                            <p:stCondLst>
                              <p:cond delay="800"/>
                            </p:stCondLst>
                            <p:childTnLst>
                              <p:set>
                                <p:cBhvr>
                                  <p:cTn id="35" dur="1" fill="hold"/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36" dur="500" fill="hold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7" presetID="22" presetClass="entr" presetSubtype="0" fill="hold" nodeType="withEffect">
                            <p:stCondLst>
                              <p:cond delay="900"/>
                            </p:stCondLst>
                            <p:childTnLst>
                              <p:set>
                                <p:cBhvr>
                                  <p:cTn id="38" dur="1" fill="hold"/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39" dur="500" fill="hold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0" presetID="22" presetClass="entr" presetSubtype="0" fill="hold" nodeType="withEffect">
                            <p:stCondLst>
                              <p:cond delay="1000"/>
                            </p:stCondLst>
                            <p:childTnLst>
                              <p:set>
                                <p:cBhvr>
                                  <p:cTn id="41" dur="1" fill="hold"/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42" dur="500" fill="hold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3" presetID="22" presetClass="entr" presetSubtype="0" fill="hold" nodeType="withEffect">
                            <p:stCondLst>
                              <p:cond delay="1000"/>
                            </p:stCondLst>
                            <p:childTnLst>
                              <p:set>
                                <p:cBhvr>
                                  <p:cTn id="44" dur="1" fill="hold"/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45" dur="500" fill="hold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4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5B4F5E-6E82-4E8F-B859-3554D8279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2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27203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72033"/>
                </a:solidFill>
                <a:latin typeface="Arial"/>
                <a:ea typeface="Arial"/>
                <a:cs typeface="Arial"/>
              </a:rPr>
              <a:t>Screen composition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9F05C8-7855-43D3-B688-76EA94B24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1076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>
                <a:solidFill>
                  <a:srgbClr val="70459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70459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0459E"/>
                </a:solidFill>
                <a:latin typeface="Arial"/>
                <a:ea typeface="Arial"/>
                <a:cs typeface="Arial"/>
              </a:rPr>
              <a:t>IMPLEMENTED FEATURES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8F647F-64A7-4E03-8B5A-A8D88865D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65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65B7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5B7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D51F73-FC6D-43B8-A1BE-466129950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61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1">
                <a:solidFill>
                  <a:srgbClr val="70459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70459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0459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883161-2482-48BD-A85F-4E69C4578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790700"/>
            <a:ext cx="1009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7203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72033"/>
                </a:solidFill>
                <a:latin typeface="Arial"/>
                <a:ea typeface="Arial"/>
                <a:cs typeface="Arial"/>
              </a:rPr>
              <a:t>Grid, compact rows and editorial collections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FDCA6B-D29D-4439-BC5A-D25D97883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05100"/>
            <a:ext cx="61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1">
                <a:solidFill>
                  <a:srgbClr val="70459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70459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0459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298D25-2138-42BD-84DD-E36C1D8F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05100"/>
            <a:ext cx="1009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7203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72033"/>
                </a:solidFill>
                <a:latin typeface="Arial"/>
                <a:ea typeface="Arial"/>
                <a:cs typeface="Arial"/>
              </a:rPr>
              <a:t>Horizontal collections and mosaic arrangements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FBCC1F-3599-4F1C-8A22-80382191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0"/>
            <a:ext cx="61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1">
                <a:solidFill>
                  <a:srgbClr val="70459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70459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0459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FEA3CF-FB3F-4FBA-925F-FC519BD2F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19500"/>
            <a:ext cx="1009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7203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72033"/>
                </a:solidFill>
                <a:latin typeface="Arial"/>
                <a:ea typeface="Arial"/>
                <a:cs typeface="Arial"/>
              </a:rPr>
              <a:t>Category chips or tiles, colours and typography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716FDE-4B56-4FDE-B747-E4A853C46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33900"/>
            <a:ext cx="61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1">
                <a:solidFill>
                  <a:srgbClr val="70459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70459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0459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05ED60-8147-42B9-8EB5-1D1605E78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33900"/>
            <a:ext cx="1009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7203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72033"/>
                </a:solidFill>
                <a:latin typeface="Arial"/>
                <a:ea typeface="Arial"/>
                <a:cs typeface="Arial"/>
              </a:rPr>
              <a:t>Saved configurations applied by both renderers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C7098A-0EFC-432E-98E3-1879803DE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2455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665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65B7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5B76"/>
                </a:solidFill>
                <a:latin typeface="Arial"/>
                <a:ea typeface="Arial"/>
                <a:cs typeface="Arial"/>
              </a:rPr>
              <a:t>Design diversity is bounded by the implemented components and composition schema.</a:t>
            </a:r>
          </a:p>
        </p:txBody>
      </p:sp>
    </p:spTree>
    <p:extLst>
      <p:ext uri="{BB962C8B-B14F-4D97-AF65-F5344CB8AC3E}">
        <p14:creationId xmlns:p14="http://schemas.microsoft.com/office/powerpoint/2010/main" val="612522469"/>
      </p:ext>
    </p:extLst>
  </p:cSld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1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/>
                                  <p:tgtEl>
                                    <p:spTgt spid="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500" fill="hold"/>
                                  <p:tgtEl>
                                    <p:spTgt spid="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withEffect">
                            <p:stCondLst>
                              <p:cond delay="100"/>
                            </p:stCondLst>
                            <p:childTnLst>
                              <p:set>
                                <p:cBhvr>
                                  <p:cTn id="14" dur="1" fill="hold"/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500" fill="hold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2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17" dur="1" fill="hold"/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lide(fromBottom)">
                                <p:cBhvr>
                                  <p:cTn id="18" dur="500" fill="hold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2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20" dur="1" fill="hold"/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lide(fromBottom)">
                                <p:cBhvr>
                                  <p:cTn id="21" dur="500" fill="hold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2" presetClass="entr" presetSubtype="0" fill="hold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23" dur="1" fill="hold"/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lide(fromBottom)">
                                <p:cBhvr>
                                  <p:cTn id="24" dur="500" fill="hold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2" presetClass="entr" presetSubtype="0" fill="hold" nodeType="withEffect">
                            <p:stCondLst>
                              <p:cond delay="500"/>
                            </p:stCondLst>
                            <p:childTnLst>
                              <p:set>
                                <p:cBhvr>
                                  <p:cTn id="26" dur="1" fill="hold"/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lide(fromBottom)">
                                <p:cBhvr>
                                  <p:cTn id="27" dur="500" fill="hold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2" presetClass="entr" presetSubtype="0" fill="hold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29" dur="1" fill="hold"/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lide(fromBottom)">
                                <p:cBhvr>
                                  <p:cTn id="30" dur="500" fill="hold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2" presetClass="entr" presetSubtype="0" fill="hold" nodeType="withEffect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32" dur="1" fill="hold"/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lide(fromBottom)">
                                <p:cBhvr>
                                  <p:cTn id="33" dur="500" fill="hold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210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53C89C-BE16-4B4D-91FF-ED19725AF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F6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6F2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6F2FF"/>
                </a:solidFill>
                <a:latin typeface="Arial"/>
                <a:ea typeface="Arial"/>
                <a:cs typeface="Arial"/>
              </a:rPr>
              <a:t>Prompt handling and custom screens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1805A7-ED01-4DBB-B1D3-03E449586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1076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>
                <a:solidFill>
                  <a:srgbClr val="B592E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592E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592E5"/>
                </a:solidFill>
                <a:latin typeface="Arial"/>
                <a:ea typeface="Arial"/>
                <a:cs typeface="Arial"/>
              </a:rPr>
              <a:t>RECENT PROGRESS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FDECF7-E0AB-422A-9AB8-929DE232D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C4BCD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C4BCD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4BCD1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4B38EC-97A9-4992-9E53-97707E24C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28775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1">
                <a:solidFill>
                  <a:srgbClr val="B592E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B592E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592E5"/>
                </a:solidFill>
                <a:latin typeface="Arial"/>
                <a:ea typeface="Arial"/>
                <a:cs typeface="Arial"/>
              </a:rPr>
              <a:t>Example: a makeup app with a Medical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0F3437-01B7-4D3C-ADA4-E5109DB3C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86025"/>
            <a:ext cx="457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F6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F6F2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6F2FF"/>
                </a:solidFill>
                <a:latin typeface="Arial"/>
                <a:ea typeface="Arial"/>
                <a:cs typeface="Arial"/>
              </a:rPr>
              <a:t>Included screens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25AE7A-FB3C-4C8E-9DAC-C68506662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57525"/>
            <a:ext cx="4667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F6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F6F2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6F2FF"/>
                </a:solidFill>
                <a:latin typeface="Arial"/>
                <a:ea typeface="Arial"/>
                <a:cs typeface="Arial"/>
              </a:rPr>
              <a:t>Home</a:t>
            </a:r>
          </a:p>
          <a:p xmlns:a="http://schemas.openxmlformats.org/drawingml/2006/main">
            <a:pPr>
              <a:defRPr sz="2250" b="0">
                <a:solidFill>
                  <a:srgbClr val="F6F2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6F2FF"/>
                </a:solidFill>
                <a:latin typeface="Arial"/>
                <a:ea typeface="Arial"/>
                <a:cs typeface="Arial"/>
              </a:rPr>
              <a:t>Menu / catalogue</a:t>
            </a:r>
          </a:p>
          <a:p xmlns:a="http://schemas.openxmlformats.org/drawingml/2006/main">
            <a:pPr>
              <a:defRPr sz="2250" b="0">
                <a:solidFill>
                  <a:srgbClr val="F6F2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6F2FF"/>
                </a:solidFill>
                <a:latin typeface="Arial"/>
                <a:ea typeface="Arial"/>
                <a:cs typeface="Arial"/>
              </a:rPr>
              <a:t>User Profile</a:t>
            </a:r>
          </a:p>
          <a:p xmlns:a="http://schemas.openxmlformats.org/drawingml/2006/main">
            <a:pPr>
              <a:defRPr sz="2250" b="0">
                <a:solidFill>
                  <a:srgbClr val="F6F2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6F2FF"/>
                </a:solidFill>
                <a:latin typeface="Arial"/>
                <a:ea typeface="Arial"/>
                <a:cs typeface="Arial"/>
              </a:rPr>
              <a:t>Medical Record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3FC24C-DD5E-4354-BEF0-5924BC386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86025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F6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F6F2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6F2FF"/>
                </a:solidFill>
                <a:latin typeface="Arial"/>
                <a:ea typeface="Arial"/>
                <a:cs typeface="Arial"/>
              </a:rPr>
              <a:t>Requested record fields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AF4CCE-11A3-4612-89E6-F167888DC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057525"/>
            <a:ext cx="5238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F6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F6F2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6F2FF"/>
                </a:solidFill>
                <a:latin typeface="Arial"/>
                <a:ea typeface="Arial"/>
                <a:cs typeface="Arial"/>
              </a:rPr>
              <a:t>Patient name</a:t>
            </a:r>
          </a:p>
          <a:p xmlns:a="http://schemas.openxmlformats.org/drawingml/2006/main">
            <a:pPr>
              <a:defRPr sz="2250" b="0">
                <a:solidFill>
                  <a:srgbClr val="F6F2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6F2FF"/>
                </a:solidFill>
                <a:latin typeface="Arial"/>
                <a:ea typeface="Arial"/>
                <a:cs typeface="Arial"/>
              </a:rPr>
              <a:t>Patient ID</a:t>
            </a:r>
          </a:p>
          <a:p xmlns:a="http://schemas.openxmlformats.org/drawingml/2006/main">
            <a:pPr>
              <a:defRPr sz="2250" b="0">
                <a:solidFill>
                  <a:srgbClr val="F6F2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6F2FF"/>
                </a:solidFill>
                <a:latin typeface="Arial"/>
                <a:ea typeface="Arial"/>
                <a:cs typeface="Arial"/>
              </a:rPr>
              <a:t>Patient condition</a:t>
            </a:r>
          </a:p>
          <a:p xmlns:a="http://schemas.openxmlformats.org/drawingml/2006/main">
            <a:pPr>
              <a:defRPr sz="2250" b="0">
                <a:solidFill>
                  <a:srgbClr val="F6F2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6F2FF"/>
                </a:solidFill>
                <a:latin typeface="Arial"/>
                <a:ea typeface="Arial"/>
                <a:cs typeface="Arial"/>
              </a:rPr>
              <a:t>Skin colour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A3C171-0A28-4625-BC4E-BC785B658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2455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C4BCD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C4BCD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4BCD1"/>
                </a:solidFill>
                <a:latin typeface="Arial"/>
                <a:ea typeface="Arial"/>
                <a:cs typeface="Arial"/>
              </a:rPr>
              <a:t>Settings excluded. Custom record fields are read-only and show “Not provided” when empty.</a:t>
            </a:r>
          </a:p>
        </p:txBody>
      </p:sp>
    </p:spTree>
    <p:extLst>
      <p:ext uri="{BB962C8B-B14F-4D97-AF65-F5344CB8AC3E}">
        <p14:creationId xmlns:p14="http://schemas.microsoft.com/office/powerpoint/2010/main" val="175412647"/>
      </p:ext>
    </p:extLst>
  </p:cSld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1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/>
                                  <p:tgtEl>
                                    <p:spTgt spid="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500" fill="hold"/>
                                  <p:tgtEl>
                                    <p:spTgt spid="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withEffect">
                            <p:stCondLst>
                              <p:cond delay="100"/>
                            </p:stCondLst>
                            <p:childTnLst>
                              <p:set>
                                <p:cBhvr>
                                  <p:cTn id="14" dur="1" fill="hold"/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500" fill="hold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17" dur="1" fill="hold"/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500" fill="hold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20" dur="1" fill="hold"/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500" fill="hold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23" dur="1" fill="hold"/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500" fill="hold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10" presetClass="entr" presetSubtype="0" fill="hold" nodeType="withEffect">
                            <p:stCondLst>
                              <p:cond delay="500"/>
                            </p:stCondLst>
                            <p:childTnLst>
                              <p:set>
                                <p:cBhvr>
                                  <p:cTn id="26" dur="1" fill="hold"/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500" fill="hold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10" presetClass="entr" presetSubtype="0" fill="hold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29" dur="1" fill="hold"/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500" fill="hold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10" presetClass="entr" presetSubtype="0" fill="hold" nodeType="withEffect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32" dur="1" fill="hold"/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500" fill="hold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presetID="10" presetClass="entr" presetSubtype="0" fill="hold" nodeType="withEffect">
                            <p:stCondLst>
                              <p:cond delay="800"/>
                            </p:stCondLst>
                            <p:childTnLst>
                              <p:set>
                                <p:cBhvr>
                                  <p:cTn id="35" dur="1" fill="hold"/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500" fill="hold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4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52C105-914B-402B-9074-D7ED9DE28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2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27203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72033"/>
                </a:solidFill>
                <a:latin typeface="Arial"/>
                <a:ea typeface="Arial"/>
                <a:cs typeface="Arial"/>
              </a:rPr>
              <a:t>Code generation and export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8B22FC-692E-4507-9E2F-C971D295B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1076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>
                <a:solidFill>
                  <a:srgbClr val="70459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70459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0459E"/>
                </a:solidFill>
                <a:latin typeface="Arial"/>
                <a:ea typeface="Arial"/>
                <a:cs typeface="Arial"/>
              </a:rPr>
              <a:t>IMPLEMENTED FEATURES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CD3A98-0493-4B11-A8E6-4B0689DC0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65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65B7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5B76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B299D2-2148-49E5-93EC-E9A028CFD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61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1">
                <a:solidFill>
                  <a:srgbClr val="70459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70459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0459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5D8AE9-043A-414A-BAB4-BA64B7D88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790700"/>
            <a:ext cx="1009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7203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72033"/>
                </a:solidFill>
                <a:latin typeface="Arial"/>
                <a:ea typeface="Arial"/>
                <a:cs typeface="Arial"/>
              </a:rPr>
              <a:t>Approved requirements and design become saved configuration.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9CABC8-AC2B-4E1F-9E2D-CD0F2EDBF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05100"/>
            <a:ext cx="61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1">
                <a:solidFill>
                  <a:srgbClr val="70459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70459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0459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0FCBAA-14FF-498C-8CE6-8E49280EA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05100"/>
            <a:ext cx="1009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7203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72033"/>
                </a:solidFill>
                <a:latin typeface="Arial"/>
                <a:ea typeface="Arial"/>
                <a:cs typeface="Arial"/>
              </a:rPr>
              <a:t>The compiler assembles React Native / Expo source files.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93339E-E249-4D12-B737-8857ED383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0"/>
            <a:ext cx="61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1">
                <a:solidFill>
                  <a:srgbClr val="70459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70459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0459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0920DA-467C-4767-AE42-E5FAF1780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19500"/>
            <a:ext cx="1009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7203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72033"/>
                </a:solidFill>
                <a:latin typeface="Arial"/>
                <a:ea typeface="Arial"/>
                <a:cs typeface="Arial"/>
              </a:rPr>
              <a:t>esbuild creates browser assets through React Native Web.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294354-C485-4E13-A0FB-FCA91CCE3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33900"/>
            <a:ext cx="61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1">
                <a:solidFill>
                  <a:srgbClr val="70459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70459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0459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7BA6BB-5FC8-48CA-915F-49E7C0843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33900"/>
            <a:ext cx="1009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7203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72033"/>
                </a:solidFill>
                <a:latin typeface="Arial"/>
                <a:ea typeface="Arial"/>
                <a:cs typeface="Arial"/>
              </a:rPr>
              <a:t>The user can inspect, edit, rebuild and download the project.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185B24-3073-4093-853A-7CC94DDF2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2455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665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65B7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5B76"/>
                </a:solidFill>
                <a:latin typeface="Arial"/>
                <a:ea typeface="Arial"/>
                <a:cs typeface="Arial"/>
              </a:rPr>
              <a:t>CodeT5 candidates are retained for inspection; they do not automatically replace accepted components.</a:t>
            </a:r>
          </a:p>
        </p:txBody>
      </p:sp>
    </p:spTree>
    <p:extLst>
      <p:ext uri="{BB962C8B-B14F-4D97-AF65-F5344CB8AC3E}">
        <p14:creationId xmlns:p14="http://schemas.microsoft.com/office/powerpoint/2010/main" val="1144810709"/>
      </p:ext>
    </p:extLst>
  </p:cSld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1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/>
                                  <p:tgtEl>
                                    <p:spTgt spid="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500" fill="hold"/>
                                  <p:tgtEl>
                                    <p:spTgt spid="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withEffect">
                            <p:stCondLst>
                              <p:cond delay="100"/>
                            </p:stCondLst>
                            <p:childTnLst>
                              <p:set>
                                <p:cBhvr>
                                  <p:cTn id="14" dur="1" fill="hold"/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500" fill="hold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22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17" dur="1" fill="hold"/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8" dur="500" fill="hold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22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20" dur="1" fill="hold"/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1" dur="500" fill="hold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22" presetClass="entr" presetSubtype="0" fill="hold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23" dur="1" fill="hold"/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4" dur="500" fill="hold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22" presetClass="entr" presetSubtype="0" fill="hold" nodeType="withEffect">
                            <p:stCondLst>
                              <p:cond delay="500"/>
                            </p:stCondLst>
                            <p:childTnLst>
                              <p:set>
                                <p:cBhvr>
                                  <p:cTn id="26" dur="1" fill="hold"/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7" dur="500" fill="hold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22" presetClass="entr" presetSubtype="0" fill="hold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29" dur="1" fill="hold"/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30" dur="500" fill="hold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22" presetClass="entr" presetSubtype="0" fill="hold" nodeType="withEffect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32" dur="1" fill="hold"/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33" dur="500" fill="hold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4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61DDFA-AC9A-4DD2-A3CA-15A356582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2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27203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72033"/>
                </a:solidFill>
                <a:latin typeface="Arial"/>
                <a:ea typeface="Arial"/>
                <a:cs typeface="Arial"/>
              </a:rPr>
              <a:t>Backend progress: modules 01–05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E6C7C6-BF52-4997-9B30-3A1279FDE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1076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>
                <a:solidFill>
                  <a:srgbClr val="70459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70459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0459E"/>
                </a:solidFill>
                <a:latin typeface="Arial"/>
                <a:ea typeface="Arial"/>
                <a:cs typeface="Arial"/>
              </a:rPr>
              <a:t>APPROVED MODULE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0495C4-8521-413F-B749-50D4EDFD2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65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65B7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5B76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64D96A-8C07-41D6-9832-E2884C05710C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81300"/>
                <a:gridCol w="4095750"/>
                <a:gridCol w="4095750"/>
              </a:tblGrid>
              <a:tr h="6667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Module</a:t>
                      </a:r>
                    </a:p>
                  </a:txBody>
                  <a:tcPr marL="114300" marR="114300" marT="95250" marB="76200">
                    <a:solidFill>
                      <a:srgbClr val="7045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Working now</a:t>
                      </a:r>
                    </a:p>
                  </a:txBody>
                  <a:tcPr marL="114300" marR="114300" marT="95250" marB="76200">
                    <a:solidFill>
                      <a:srgbClr val="7045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Remaining</a:t>
                      </a:r>
                    </a:p>
                  </a:txBody>
                  <a:tcPr marL="114300" marR="114300" marT="95250" marB="76200">
                    <a:solidFill>
                      <a:srgbClr val="70459E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72033"/>
                          </a:solidFill>
                          <a:latin typeface="Arial"/>
                          <a:ea typeface="Arial"/>
                          <a:cs typeface="Arial"/>
                        </a:rPr>
                        <a:t>01 Utilities</a:t>
                      </a:r>
                    </a:p>
                  </a:txBody>
                  <a:tcPr marL="114300" marR="114300" marT="9525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72033"/>
                          </a:solidFill>
                          <a:latin typeface="Arial"/>
                          <a:ea typeface="Arial"/>
                          <a:cs typeface="Arial"/>
                        </a:rPr>
                        <a:t>File handling, editing, exports</a:t>
                      </a:r>
                    </a:p>
                  </a:txBody>
                  <a:tcPr marL="114300" marR="114300" marT="9525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72033"/>
                          </a:solidFill>
                          <a:latin typeface="Arial"/>
                          <a:ea typeface="Arial"/>
                          <a:cs typeface="Arial"/>
                        </a:rPr>
                        <a:t>Unified setup and quality gates</a:t>
                      </a:r>
                    </a:p>
                  </a:txBody>
                  <a:tcPr marL="114300" marR="114300" marT="95250" marB="7620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72033"/>
                          </a:solidFill>
                          <a:latin typeface="Arial"/>
                          <a:ea typeface="Arial"/>
                          <a:cs typeface="Arial"/>
                        </a:rPr>
                        <a:t>02 Engine</a:t>
                      </a:r>
                    </a:p>
                  </a:txBody>
                  <a:tcPr marL="114300" marR="114300" marT="95250" marB="76200">
                    <a:solidFill>
                      <a:srgbClr val="EEE8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72033"/>
                          </a:solidFill>
                          <a:latin typeface="Arial"/>
                          <a:ea typeface="Arial"/>
                          <a:cs typeface="Arial"/>
                        </a:rPr>
                        <a:t>Planning, project state, review</a:t>
                      </a:r>
                    </a:p>
                  </a:txBody>
                  <a:tcPr marL="114300" marR="114300" marT="95250" marB="76200">
                    <a:solidFill>
                      <a:srgbClr val="EEE8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72033"/>
                          </a:solidFill>
                          <a:latin typeface="Arial"/>
                          <a:ea typeface="Arial"/>
                          <a:cs typeface="Arial"/>
                        </a:rPr>
                        <a:t>Ambiguity and selective regeneration</a:t>
                      </a:r>
                    </a:p>
                  </a:txBody>
                  <a:tcPr marL="114300" marR="114300" marT="95250" marB="76200">
                    <a:solidFill>
                      <a:srgbClr val="EEE8F6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72033"/>
                          </a:solidFill>
                          <a:latin typeface="Arial"/>
                          <a:ea typeface="Arial"/>
                          <a:cs typeface="Arial"/>
                        </a:rPr>
                        <a:t>03 Traceability</a:t>
                      </a:r>
                    </a:p>
                  </a:txBody>
                  <a:tcPr marL="114300" marR="114300" marT="9525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72033"/>
                          </a:solidFill>
                          <a:latin typeface="Arial"/>
                          <a:ea typeface="Arial"/>
                          <a:cs typeface="Arial"/>
                        </a:rPr>
                        <a:t>Requirement/file/check links</a:t>
                      </a:r>
                    </a:p>
                  </a:txBody>
                  <a:tcPr marL="114300" marR="114300" marT="9525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72033"/>
                          </a:solidFill>
                          <a:latin typeface="Arial"/>
                          <a:ea typeface="Arial"/>
                          <a:cs typeface="Arial"/>
                        </a:rPr>
                        <a:t>Fine-grained dependency graph</a:t>
                      </a:r>
                    </a:p>
                  </a:txBody>
                  <a:tcPr marL="114300" marR="114300" marT="95250" marB="7620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72033"/>
                          </a:solidFill>
                          <a:latin typeface="Arial"/>
                          <a:ea typeface="Arial"/>
                          <a:cs typeface="Arial"/>
                        </a:rPr>
                        <a:t>04 SRS Generator</a:t>
                      </a:r>
                    </a:p>
                  </a:txBody>
                  <a:tcPr marL="114300" marR="114300" marT="95250" marB="76200">
                    <a:solidFill>
                      <a:srgbClr val="EEE8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72033"/>
                          </a:solidFill>
                          <a:latin typeface="Arial"/>
                          <a:ea typeface="Arial"/>
                          <a:cs typeface="Arial"/>
                        </a:rPr>
                        <a:t>Document sections and exports</a:t>
                      </a:r>
                    </a:p>
                  </a:txBody>
                  <a:tcPr marL="114300" marR="114300" marT="95250" marB="76200">
                    <a:solidFill>
                      <a:srgbClr val="EEE8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72033"/>
                          </a:solidFill>
                          <a:latin typeface="Arial"/>
                          <a:ea typeface="Arial"/>
                          <a:cs typeface="Arial"/>
                        </a:rPr>
                        <a:t>Atomic FRs and dynamic NFRs</a:t>
                      </a:r>
                    </a:p>
                  </a:txBody>
                  <a:tcPr marL="114300" marR="114300" marT="95250" marB="76200">
                    <a:solidFill>
                      <a:srgbClr val="EEE8F6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72033"/>
                          </a:solidFill>
                          <a:latin typeface="Arial"/>
                          <a:ea typeface="Arial"/>
                          <a:cs typeface="Arial"/>
                        </a:rPr>
                        <a:t>05 Component Generator</a:t>
                      </a:r>
                    </a:p>
                  </a:txBody>
                  <a:tcPr marL="114300" marR="114300" marT="9525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72033"/>
                          </a:solidFill>
                          <a:latin typeface="Arial"/>
                          <a:ea typeface="Arial"/>
                          <a:cs typeface="Arial"/>
                        </a:rPr>
                        <a:t>Reusable and custom info rendering</a:t>
                      </a:r>
                    </a:p>
                  </a:txBody>
                  <a:tcPr marL="114300" marR="114300" marT="9525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72033"/>
                          </a:solidFill>
                          <a:latin typeface="Arial"/>
                          <a:ea typeface="Arial"/>
                          <a:cs typeface="Arial"/>
                        </a:rPr>
                        <a:t>Arbitrary component behaviour</a:t>
                      </a:r>
                    </a:p>
                  </a:txBody>
                  <a:tcPr marL="114300" marR="114300" marT="95250" marB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7340124"/>
      </p:ext>
    </p:extLst>
  </p:cSld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1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/>
                                  <p:tgtEl>
                                    <p:spTgt spid="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500" fill="hold"/>
                                  <p:tgtEl>
                                    <p:spTgt spid="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withEffect">
                            <p:stCondLst>
                              <p:cond delay="100"/>
                            </p:stCondLst>
                            <p:childTnLst>
                              <p:set>
                                <p:cBhvr>
                                  <p:cTn id="14" dur="1" fill="hold"/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500" fill="hold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2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17" dur="1" fill="hold"/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lide(fromBottom)">
                                <p:cBhvr>
                                  <p:cTn id="18" dur="500" fill="hold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2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20" dur="1" fill="hold"/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lide(fromBottom)">
                                <p:cBhvr>
                                  <p:cTn id="21" dur="500" fill="hold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4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F17D7A-4845-483D-90B5-F87DE8BF8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2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27203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72033"/>
                </a:solidFill>
                <a:latin typeface="Arial"/>
                <a:ea typeface="Arial"/>
                <a:cs typeface="Arial"/>
              </a:rPr>
              <a:t>Backend progress: modules 06–09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9C1366-3065-4D55-980B-3C96A14AA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1076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>
                <a:solidFill>
                  <a:srgbClr val="70459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70459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0459E"/>
                </a:solidFill>
                <a:latin typeface="Arial"/>
                <a:ea typeface="Arial"/>
                <a:cs typeface="Arial"/>
              </a:rPr>
              <a:t>APPROVED MODULE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21A19F-D01B-498C-80A6-80FE22621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65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65B7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5B76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0BA8B7-BF78-4D01-991B-25F5DE3EA974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81300"/>
                <a:gridCol w="4095750"/>
                <a:gridCol w="4095750"/>
              </a:tblGrid>
              <a:tr h="6953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Module</a:t>
                      </a:r>
                    </a:p>
                  </a:txBody>
                  <a:tcPr marL="114300" marR="114300" marT="95250" marB="76200">
                    <a:solidFill>
                      <a:srgbClr val="7045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Working now</a:t>
                      </a:r>
                    </a:p>
                  </a:txBody>
                  <a:tcPr marL="114300" marR="114300" marT="95250" marB="76200">
                    <a:solidFill>
                      <a:srgbClr val="7045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Remaining</a:t>
                      </a:r>
                    </a:p>
                  </a:txBody>
                  <a:tcPr marL="114300" marR="114300" marT="95250" marB="76200">
                    <a:solidFill>
                      <a:srgbClr val="70459E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72033"/>
                          </a:solidFill>
                          <a:latin typeface="Arial"/>
                          <a:ea typeface="Arial"/>
                          <a:cs typeface="Arial"/>
                        </a:rPr>
                        <a:t>06 Compiler</a:t>
                      </a:r>
                    </a:p>
                  </a:txBody>
                  <a:tcPr marL="114300" marR="114300" marT="9525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72033"/>
                          </a:solidFill>
                          <a:latin typeface="Arial"/>
                          <a:ea typeface="Arial"/>
                          <a:cs typeface="Arial"/>
                        </a:rPr>
                        <a:t>Source assembly and web bundling</a:t>
                      </a:r>
                    </a:p>
                  </a:txBody>
                  <a:tcPr marL="114300" marR="114300" marT="9525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72033"/>
                          </a:solidFill>
                          <a:latin typeface="Arial"/>
                          <a:ea typeface="Arial"/>
                          <a:cs typeface="Arial"/>
                        </a:rPr>
                        <a:t>Native release validation</a:t>
                      </a:r>
                    </a:p>
                  </a:txBody>
                  <a:tcPr marL="114300" marR="114300" marT="95250" marB="76200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72033"/>
                          </a:solidFill>
                          <a:latin typeface="Arial"/>
                          <a:ea typeface="Arial"/>
                          <a:cs typeface="Arial"/>
                        </a:rPr>
                        <a:t>07 Tester</a:t>
                      </a:r>
                    </a:p>
                  </a:txBody>
                  <a:tcPr marL="114300" marR="114300" marT="95250" marB="76200">
                    <a:solidFill>
                      <a:srgbClr val="EEE8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72033"/>
                          </a:solidFill>
                          <a:latin typeface="Arial"/>
                          <a:ea typeface="Arial"/>
                          <a:cs typeface="Arial"/>
                        </a:rPr>
                        <a:t>Structural and compilation checks</a:t>
                      </a:r>
                    </a:p>
                  </a:txBody>
                  <a:tcPr marL="114300" marR="114300" marT="95250" marB="76200">
                    <a:solidFill>
                      <a:srgbClr val="EEE8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72033"/>
                          </a:solidFill>
                          <a:latin typeface="Arial"/>
                          <a:ea typeface="Arial"/>
                          <a:cs typeface="Arial"/>
                        </a:rPr>
                        <a:t>Behavioural and device testing</a:t>
                      </a:r>
                    </a:p>
                  </a:txBody>
                  <a:tcPr marL="114300" marR="114300" marT="95250" marB="76200">
                    <a:solidFill>
                      <a:srgbClr val="EEE8F6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72033"/>
                          </a:solidFill>
                          <a:latin typeface="Arial"/>
                          <a:ea typeface="Arial"/>
                          <a:cs typeface="Arial"/>
                        </a:rPr>
                        <a:t>08 Logger</a:t>
                      </a:r>
                    </a:p>
                  </a:txBody>
                  <a:tcPr marL="114300" marR="114300" marT="9525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72033"/>
                          </a:solidFill>
                          <a:latin typeface="Arial"/>
                          <a:ea typeface="Arial"/>
                          <a:cs typeface="Arial"/>
                        </a:rPr>
                        <a:t>Build stages, events and errors</a:t>
                      </a:r>
                    </a:p>
                  </a:txBody>
                  <a:tcPr marL="114300" marR="114300" marT="9525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72033"/>
                          </a:solidFill>
                          <a:latin typeface="Arial"/>
                          <a:ea typeface="Arial"/>
                          <a:cs typeface="Arial"/>
                        </a:rPr>
                        <a:t>Full boot/authentication gates</a:t>
                      </a:r>
                    </a:p>
                  </a:txBody>
                  <a:tcPr marL="114300" marR="114300" marT="95250" marB="76200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72033"/>
                          </a:solidFill>
                          <a:latin typeface="Arial"/>
                          <a:ea typeface="Arial"/>
                          <a:cs typeface="Arial"/>
                        </a:rPr>
                        <a:t>09 Deployment Manager</a:t>
                      </a:r>
                    </a:p>
                  </a:txBody>
                  <a:tcPr marL="114300" marR="114300" marT="95250" marB="76200">
                    <a:solidFill>
                      <a:srgbClr val="EEE8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72033"/>
                          </a:solidFill>
                          <a:latin typeface="Arial"/>
                          <a:ea typeface="Arial"/>
                          <a:cs typeface="Arial"/>
                        </a:rPr>
                        <a:t>Configured Firebase Hosting path</a:t>
                      </a:r>
                    </a:p>
                  </a:txBody>
                  <a:tcPr marL="114300" marR="114300" marT="95250" marB="76200">
                    <a:solidFill>
                      <a:srgbClr val="EEE8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72033"/>
                          </a:solidFill>
                          <a:latin typeface="Arial"/>
                          <a:ea typeface="Arial"/>
                          <a:cs typeface="Arial"/>
                        </a:rPr>
                        <a:t>Cloud-service provisioning</a:t>
                      </a:r>
                    </a:p>
                  </a:txBody>
                  <a:tcPr marL="114300" marR="114300" marT="95250" marB="76200">
                    <a:solidFill>
                      <a:srgbClr val="EEE8F6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06D01C-CE30-489F-B468-AEB579647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2455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665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65B7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5B76"/>
                </a:solidFill>
                <a:latin typeface="Arial"/>
                <a:ea typeface="Arial"/>
                <a:cs typeface="Arial"/>
              </a:rPr>
              <a:t>App Store and Play Store publication are outside the current implementation.</a:t>
            </a:r>
          </a:p>
        </p:txBody>
      </p:sp>
    </p:spTree>
    <p:extLst>
      <p:ext uri="{BB962C8B-B14F-4D97-AF65-F5344CB8AC3E}">
        <p14:creationId xmlns:p14="http://schemas.microsoft.com/office/powerpoint/2010/main" val="1600163062"/>
      </p:ext>
    </p:extLst>
  </p:cSld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1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/>
                                  <p:tgtEl>
                                    <p:spTgt spid="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500" fill="hold"/>
                                  <p:tgtEl>
                                    <p:spTgt spid="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withEffect">
                            <p:stCondLst>
                              <p:cond delay="100"/>
                            </p:stCondLst>
                            <p:childTnLst>
                              <p:set>
                                <p:cBhvr>
                                  <p:cTn id="14" dur="1" fill="hold"/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500" fill="hold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17" dur="1" fill="hold"/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500" fill="hold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20" dur="1" fill="hold"/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500" fill="hold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23" dur="1" fill="hold"/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500" fill="hold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4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866D79-28AF-44D2-A3EE-41C4A0640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2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27203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72033"/>
                </a:solidFill>
                <a:latin typeface="Arial"/>
                <a:ea typeface="Arial"/>
                <a:cs typeface="Arial"/>
              </a:rPr>
              <a:t>Frontend progress: modules 10–15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A47CDF-82C5-43E2-85A8-DB5F93C6F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1076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>
                <a:solidFill>
                  <a:srgbClr val="70459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70459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0459E"/>
                </a:solidFill>
                <a:latin typeface="Arial"/>
                <a:ea typeface="Arial"/>
                <a:cs typeface="Arial"/>
              </a:rPr>
              <a:t>APPROVED MODULE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26E249-3F45-4BF2-BB30-F166046D5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65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65B7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5B76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4083B6-D6A8-457E-945B-B3617DBFC981}"/>
              </a:ext>
            </a:extLst>
          </p:cNvPr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4333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81300"/>
                <a:gridCol w="4095750"/>
                <a:gridCol w="4095750"/>
              </a:tblGrid>
              <a:tr h="6191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Module</a:t>
                      </a:r>
                    </a:p>
                  </a:txBody>
                  <a:tcPr marL="114300" marR="114300" marT="95250" marB="76200">
                    <a:solidFill>
                      <a:srgbClr val="7045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Working now</a:t>
                      </a:r>
                    </a:p>
                  </a:txBody>
                  <a:tcPr marL="114300" marR="114300" marT="95250" marB="76200">
                    <a:solidFill>
                      <a:srgbClr val="7045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Remaining</a:t>
                      </a:r>
                    </a:p>
                  </a:txBody>
                  <a:tcPr marL="114300" marR="114300" marT="95250" marB="76200">
                    <a:solidFill>
                      <a:srgbClr val="70459E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72033"/>
                          </a:solidFill>
                          <a:latin typeface="Arial"/>
                          <a:ea typeface="Arial"/>
                          <a:cs typeface="Arial"/>
                        </a:rPr>
                        <a:t>10 Input Interface</a:t>
                      </a:r>
                    </a:p>
                  </a:txBody>
                  <a:tcPr marL="114300" marR="114300" marT="9525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72033"/>
                          </a:solidFill>
                          <a:latin typeface="Arial"/>
                          <a:ea typeface="Arial"/>
                          <a:cs typeface="Arial"/>
                        </a:rPr>
                        <a:t>Prompt and supported uploads</a:t>
                      </a:r>
                    </a:p>
                  </a:txBody>
                  <a:tcPr marL="114300" marR="114300" marT="9525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72033"/>
                          </a:solidFill>
                          <a:latin typeface="Arial"/>
                          <a:ea typeface="Arial"/>
                          <a:cs typeface="Arial"/>
                        </a:rPr>
                        <a:t>Broader input evaluation</a:t>
                      </a:r>
                    </a:p>
                  </a:txBody>
                  <a:tcPr marL="114300" marR="114300" marT="95250" marB="7620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72033"/>
                          </a:solidFill>
                          <a:latin typeface="Arial"/>
                          <a:ea typeface="Arial"/>
                          <a:cs typeface="Arial"/>
                        </a:rPr>
                        <a:t>11 Design Preferences</a:t>
                      </a:r>
                    </a:p>
                  </a:txBody>
                  <a:tcPr marL="114300" marR="114300" marT="95250" marB="76200">
                    <a:solidFill>
                      <a:srgbClr val="EEE8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72033"/>
                          </a:solidFill>
                          <a:latin typeface="Arial"/>
                          <a:ea typeface="Arial"/>
                          <a:cs typeface="Arial"/>
                        </a:rPr>
                        <a:t>Controls inside Screens</a:t>
                      </a:r>
                    </a:p>
                  </a:txBody>
                  <a:tcPr marL="114300" marR="114300" marT="95250" marB="76200">
                    <a:solidFill>
                      <a:srgbClr val="EEE8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72033"/>
                          </a:solidFill>
                          <a:latin typeface="Arial"/>
                          <a:ea typeface="Arial"/>
                          <a:cs typeface="Arial"/>
                        </a:rPr>
                        <a:t>More design flexibility</a:t>
                      </a:r>
                    </a:p>
                  </a:txBody>
                  <a:tcPr marL="114300" marR="114300" marT="95250" marB="76200">
                    <a:solidFill>
                      <a:srgbClr val="EEE8F6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72033"/>
                          </a:solidFill>
                          <a:latin typeface="Arial"/>
                          <a:ea typeface="Arial"/>
                          <a:cs typeface="Arial"/>
                        </a:rPr>
                        <a:t>12 Progress / Status</a:t>
                      </a:r>
                    </a:p>
                  </a:txBody>
                  <a:tcPr marL="114300" marR="114300" marT="9525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72033"/>
                          </a:solidFill>
                          <a:latin typeface="Arial"/>
                          <a:ea typeface="Arial"/>
                          <a:cs typeface="Arial"/>
                        </a:rPr>
                        <a:t>Stages, errors, cancel/retry</a:t>
                      </a:r>
                    </a:p>
                  </a:txBody>
                  <a:tcPr marL="114300" marR="114300" marT="9525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72033"/>
                          </a:solidFill>
                          <a:latin typeface="Arial"/>
                          <a:ea typeface="Arial"/>
                          <a:cs typeface="Arial"/>
                        </a:rPr>
                        <a:t>Exact checkpoint resume</a:t>
                      </a:r>
                    </a:p>
                  </a:txBody>
                  <a:tcPr marL="114300" marR="114300" marT="95250" marB="7620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72033"/>
                          </a:solidFill>
                          <a:latin typeface="Arial"/>
                          <a:ea typeface="Arial"/>
                          <a:cs typeface="Arial"/>
                        </a:rPr>
                        <a:t>13 SRS Viewer / Editor</a:t>
                      </a:r>
                    </a:p>
                  </a:txBody>
                  <a:tcPr marL="114300" marR="114300" marT="95250" marB="76200">
                    <a:solidFill>
                      <a:srgbClr val="EEE8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72033"/>
                          </a:solidFill>
                          <a:latin typeface="Arial"/>
                          <a:ea typeface="Arial"/>
                          <a:cs typeface="Arial"/>
                        </a:rPr>
                        <a:t>Review, edit, approve, export</a:t>
                      </a:r>
                    </a:p>
                  </a:txBody>
                  <a:tcPr marL="114300" marR="114300" marT="95250" marB="76200">
                    <a:solidFill>
                      <a:srgbClr val="EEE8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72033"/>
                          </a:solidFill>
                          <a:latin typeface="Arial"/>
                          <a:ea typeface="Arial"/>
                          <a:cs typeface="Arial"/>
                        </a:rPr>
                        <a:t>Selective regeneration</a:t>
                      </a:r>
                    </a:p>
                  </a:txBody>
                  <a:tcPr marL="114300" marR="114300" marT="95250" marB="76200">
                    <a:solidFill>
                      <a:srgbClr val="EEE8F6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72033"/>
                          </a:solidFill>
                          <a:latin typeface="Arial"/>
                          <a:ea typeface="Arial"/>
                          <a:cs typeface="Arial"/>
                        </a:rPr>
                        <a:t>14 Live Review</a:t>
                      </a:r>
                    </a:p>
                  </a:txBody>
                  <a:tcPr marL="114300" marR="114300" marT="9525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72033"/>
                          </a:solidFill>
                          <a:latin typeface="Arial"/>
                          <a:ea typeface="Arial"/>
                          <a:cs typeface="Arial"/>
                        </a:rPr>
                        <a:t>Device views and previews</a:t>
                      </a:r>
                    </a:p>
                  </a:txBody>
                  <a:tcPr marL="114300" marR="114300" marT="9525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72033"/>
                          </a:solidFill>
                          <a:latin typeface="Arial"/>
                          <a:ea typeface="Arial"/>
                          <a:cs typeface="Arial"/>
                        </a:rPr>
                        <a:t>Compiled-app consistency</a:t>
                      </a:r>
                    </a:p>
                  </a:txBody>
                  <a:tcPr marL="114300" marR="114300" marT="95250" marB="7620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72033"/>
                          </a:solidFill>
                          <a:latin typeface="Arial"/>
                          <a:ea typeface="Arial"/>
                          <a:cs typeface="Arial"/>
                        </a:rPr>
                        <a:t>15 Code Explorer</a:t>
                      </a:r>
                    </a:p>
                  </a:txBody>
                  <a:tcPr marL="114300" marR="114300" marT="95250" marB="76200">
                    <a:solidFill>
                      <a:srgbClr val="EEE8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72033"/>
                          </a:solidFill>
                          <a:latin typeface="Arial"/>
                          <a:ea typeface="Arial"/>
                          <a:cs typeface="Arial"/>
                        </a:rPr>
                        <a:t>Edit, rebuild, trace, ZIP</a:t>
                      </a:r>
                    </a:p>
                  </a:txBody>
                  <a:tcPr marL="114300" marR="114300" marT="95250" marB="76200">
                    <a:solidFill>
                      <a:srgbClr val="EEE8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72033"/>
                          </a:solidFill>
                          <a:latin typeface="Arial"/>
                          <a:ea typeface="Arial"/>
                          <a:cs typeface="Arial"/>
                        </a:rPr>
                        <a:t>Broader usability testing</a:t>
                      </a:r>
                    </a:p>
                  </a:txBody>
                  <a:tcPr marL="114300" marR="114300" marT="95250" marB="76200">
                    <a:solidFill>
                      <a:srgbClr val="EEE8F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1887723"/>
      </p:ext>
    </p:extLst>
  </p:cSld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1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/>
                                  <p:tgtEl>
                                    <p:spTgt spid="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500" fill="hold"/>
                                  <p:tgtEl>
                                    <p:spTgt spid="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withEffect">
                            <p:stCondLst>
                              <p:cond delay="100"/>
                            </p:stCondLst>
                            <p:childTnLst>
                              <p:set>
                                <p:cBhvr>
                                  <p:cTn id="14" dur="1" fill="hold"/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500" fill="hold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22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17" dur="1" fill="hold"/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8" dur="500" fill="hold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22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20" dur="1" fill="hold"/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1" dur="500" fill="hold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210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CCB2BD-9734-4EAD-B6AD-0B8F50F6C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F6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6F2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6F2FF"/>
                </a:solidFill>
                <a:latin typeface="Arial"/>
                <a:ea typeface="Arial"/>
                <a:cs typeface="Arial"/>
              </a:rPr>
              <a:t>Verification and performance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99C566-BE28-4924-B0ED-BC53EA4E7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1076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>
                <a:solidFill>
                  <a:srgbClr val="B592E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592E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592E5"/>
                </a:solidFill>
                <a:latin typeface="Arial"/>
                <a:ea typeface="Arial"/>
                <a:cs typeface="Arial"/>
              </a:rPr>
              <a:t>COMPLETED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591FB0-E941-485E-9515-4B9C73BD9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C4BCD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C4BCD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4BCD1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B010A7-7BA8-4F9B-AAE2-29139EBFE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62125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1">
                <a:solidFill>
                  <a:srgbClr val="B592E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B592E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B592E5"/>
                </a:solidFill>
                <a:latin typeface="Arial"/>
                <a:ea typeface="Arial"/>
                <a:cs typeface="Arial"/>
              </a:rPr>
              <a:t>Verification completed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4BD8C2-2E89-4B01-AB16-05F1BA76C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762125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1">
                <a:solidFill>
                  <a:srgbClr val="B592E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B592E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B592E5"/>
                </a:solidFill>
                <a:latin typeface="Arial"/>
                <a:ea typeface="Arial"/>
                <a:cs typeface="Arial"/>
              </a:rPr>
              <a:t>Performance improvements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D4F4A6-9584-4276-85D9-81BC27E74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38400"/>
            <a:ext cx="5000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F6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6F2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6F2FF"/>
                </a:solidFill>
                <a:latin typeface="Arial"/>
                <a:ea typeface="Arial"/>
                <a:cs typeface="Arial"/>
              </a:rPr>
              <a:t>Frontend production build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A76BD6-4F86-4531-A044-7CC5A16E1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76600"/>
            <a:ext cx="5000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F6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6F2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6F2FF"/>
                </a:solidFill>
                <a:latin typeface="Arial"/>
                <a:ea typeface="Arial"/>
                <a:cs typeface="Arial"/>
              </a:rPr>
              <a:t>Targeted backend regression tests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ED1484-A25A-4DE5-9629-9599A4554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14800"/>
            <a:ext cx="5000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F6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6F2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6F2FF"/>
                </a:solidFill>
                <a:latin typeface="Arial"/>
                <a:ea typeface="Arial"/>
                <a:cs typeface="Arial"/>
              </a:rPr>
              <a:t>Medical Record build and ZIP-export test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6BD702-0A03-4ED1-B3ED-A18DC8D76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38400"/>
            <a:ext cx="5000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F6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6F2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6F2FF"/>
                </a:solidFill>
                <a:latin typeface="Arial"/>
                <a:ea typeface="Arial"/>
                <a:cs typeface="Arial"/>
              </a:rPr>
              <a:t>Cached local inference and retrieval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210189-4FFF-476D-A1B0-3A1EC5F8C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276600"/>
            <a:ext cx="5000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F6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6F2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6F2FF"/>
                </a:solidFill>
                <a:latin typeface="Arial"/>
                <a:ea typeface="Arial"/>
                <a:cs typeface="Arial"/>
              </a:rPr>
              <a:t>Overlapping windows for long prompts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82D0C8-CF6C-49E6-A781-6B4CC6832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114800"/>
            <a:ext cx="5000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F6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6F2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6F2FF"/>
                </a:solidFill>
                <a:latin typeface="Arial"/>
                <a:ea typeface="Arial"/>
                <a:cs typeface="Arial"/>
              </a:rPr>
              <a:t>Background loading and stage timings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34C7D2-5373-4412-9209-0242B29FF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2455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C4BCD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C4BCD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4BCD1"/>
                </a:solidFill>
                <a:latin typeface="Arial"/>
                <a:ea typeface="Arial"/>
                <a:cs typeface="Arial"/>
              </a:rPr>
              <a:t>Structural checks do not replace functional testing or native-device acceptance.</a:t>
            </a:r>
          </a:p>
        </p:txBody>
      </p:sp>
    </p:spTree>
    <p:extLst>
      <p:ext uri="{BB962C8B-B14F-4D97-AF65-F5344CB8AC3E}">
        <p14:creationId xmlns:p14="http://schemas.microsoft.com/office/powerpoint/2010/main" val="205663095"/>
      </p:ext>
    </p:extLst>
  </p:cSld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1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/>
                                  <p:tgtEl>
                                    <p:spTgt spid="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500" fill="hold"/>
                                  <p:tgtEl>
                                    <p:spTgt spid="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withEffect">
                            <p:stCondLst>
                              <p:cond delay="100"/>
                            </p:stCondLst>
                            <p:childTnLst>
                              <p:set>
                                <p:cBhvr>
                                  <p:cTn id="14" dur="1" fill="hold"/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500" fill="hold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2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17" dur="1" fill="hold"/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lide(fromBottom)">
                                <p:cBhvr>
                                  <p:cTn id="18" dur="500" fill="hold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2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20" dur="1" fill="hold"/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lide(fromBottom)">
                                <p:cBhvr>
                                  <p:cTn id="21" dur="500" fill="hold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2" presetClass="entr" presetSubtype="0" fill="hold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23" dur="1" fill="hold"/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lide(fromBottom)">
                                <p:cBhvr>
                                  <p:cTn id="24" dur="500" fill="hold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2" presetClass="entr" presetSubtype="0" fill="hold" nodeType="withEffect">
                            <p:stCondLst>
                              <p:cond delay="500"/>
                            </p:stCondLst>
                            <p:childTnLst>
                              <p:set>
                                <p:cBhvr>
                                  <p:cTn id="26" dur="1" fill="hold"/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lide(fromBottom)">
                                <p:cBhvr>
                                  <p:cTn id="27" dur="500" fill="hold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2" presetClass="entr" presetSubtype="0" fill="hold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29" dur="1" fill="hold"/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lide(fromBottom)">
                                <p:cBhvr>
                                  <p:cTn id="30" dur="500" fill="hold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2" presetClass="entr" presetSubtype="0" fill="hold" nodeType="withEffect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32" dur="1" fill="hold"/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lide(fromBottom)">
                                <p:cBhvr>
                                  <p:cTn id="33" dur="500" fill="hold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presetID="2" presetClass="entr" presetSubtype="0" fill="hold" nodeType="withEffect">
                            <p:stCondLst>
                              <p:cond delay="800"/>
                            </p:stCondLst>
                            <p:childTnLst>
                              <p:set>
                                <p:cBhvr>
                                  <p:cTn id="35" dur="1" fill="hold"/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lide(fromBottom)">
                                <p:cBhvr>
                                  <p:cTn id="36" dur="500" fill="hold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7" presetID="2" presetClass="entr" presetSubtype="0" fill="hold" nodeType="withEffect">
                            <p:stCondLst>
                              <p:cond delay="900"/>
                            </p:stCondLst>
                            <p:childTnLst>
                              <p:set>
                                <p:cBhvr>
                                  <p:cTn id="38" dur="1" fill="hold"/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lide(fromBottom)">
                                <p:cBhvr>
                                  <p:cTn id="39" dur="500" fill="hold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0" presetID="2" presetClass="entr" presetSubtype="0" fill="hold" nodeType="withEffect">
                            <p:stCondLst>
                              <p:cond delay="1000"/>
                            </p:stCondLst>
                            <p:childTnLst>
                              <p:set>
                                <p:cBhvr>
                                  <p:cTn id="41" dur="1" fill="hold"/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lide(fromBottom)">
                                <p:cBhvr>
                                  <p:cTn id="42" dur="500" fill="hold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3" presetID="2" presetClass="entr" presetSubtype="0" fill="hold" nodeType="withEffect">
                            <p:stCondLst>
                              <p:cond delay="1000"/>
                            </p:stCondLst>
                            <p:childTnLst>
                              <p:set>
                                <p:cBhvr>
                                  <p:cTn id="44" dur="1" fill="hold"/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lide(fromBottom)">
                                <p:cBhvr>
                                  <p:cTn id="45" dur="500" fill="hold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4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60A3DD-BE62-4803-9F87-9077BB21A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2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27203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72033"/>
                </a:solidFill>
                <a:latin typeface="Arial"/>
                <a:ea typeface="Arial"/>
                <a:cs typeface="Arial"/>
              </a:rPr>
              <a:t>Remaining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7A102F-2534-4FDD-9EE6-F93F7B56C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1076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>
                <a:solidFill>
                  <a:srgbClr val="70459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70459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0459E"/>
                </a:solidFill>
                <a:latin typeface="Arial"/>
                <a:ea typeface="Arial"/>
                <a:cs typeface="Arial"/>
              </a:rPr>
              <a:t>NEXT PRIORITIES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62AFDD-AE46-4614-B5BC-D60E848DE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65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65B7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5B76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A6F4C4-C9BD-449B-A507-4C473900E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19250"/>
            <a:ext cx="61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1">
                <a:solidFill>
                  <a:srgbClr val="70459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70459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0459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691D3E-9C0C-418D-8F91-D1F4CD66C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619250"/>
            <a:ext cx="1009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7203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72033"/>
                </a:solidFill>
                <a:latin typeface="Arial"/>
                <a:ea typeface="Arial"/>
                <a:cs typeface="Arial"/>
              </a:rPr>
              <a:t>Reliable handling of vague, contradictory and meaningless prompts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3DB260-92B2-4651-B6DA-2E2B16FBB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28875"/>
            <a:ext cx="61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1">
                <a:solidFill>
                  <a:srgbClr val="70459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70459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0459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D2E362-9488-4C5A-8A69-2A11B3D9C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28875"/>
            <a:ext cx="1009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7203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72033"/>
                </a:solidFill>
                <a:latin typeface="Arial"/>
                <a:ea typeface="Arial"/>
                <a:cs typeface="Arial"/>
              </a:rPr>
              <a:t>General field-completeness checks and editable custom forms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2E454B-A127-419C-986E-BF8CA99A5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0"/>
            <a:ext cx="61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1">
                <a:solidFill>
                  <a:srgbClr val="70459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70459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0459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580BE8-DD1F-49BC-BB1F-95C1C8480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238500"/>
            <a:ext cx="1009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7203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72033"/>
                </a:solidFill>
                <a:latin typeface="Arial"/>
                <a:ea typeface="Arial"/>
                <a:cs typeface="Arial"/>
              </a:rPr>
              <a:t>Consistent preview/export rendering and relevant product images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64C62F-4DF9-4DF1-A20D-F2C18514A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48125"/>
            <a:ext cx="61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1">
                <a:solidFill>
                  <a:srgbClr val="70459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70459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0459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B1B4CF-7D62-44F6-80AC-769CB1498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48125"/>
            <a:ext cx="1009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7203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72033"/>
                </a:solidFill>
                <a:latin typeface="Arial"/>
                <a:ea typeface="Arial"/>
                <a:cs typeface="Arial"/>
              </a:rPr>
              <a:t>Project ownership, stronger sessions and selective regeneration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6DF85E-8337-4198-848A-9FF731EB8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57750"/>
            <a:ext cx="61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1">
                <a:solidFill>
                  <a:srgbClr val="70459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70459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0459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4D2508-7C60-412F-9D5A-A832ACE7D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857750"/>
            <a:ext cx="1009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7203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72033"/>
                </a:solidFill>
                <a:latin typeface="Arial"/>
                <a:ea typeface="Arial"/>
                <a:cs typeface="Arial"/>
              </a:rPr>
              <a:t>Behavioural, accessibility and Android/iOS testing</a:t>
            </a:r>
          </a:p>
        </p:txBody>
      </p:sp>
    </p:spTree>
    <p:extLst>
      <p:ext uri="{BB962C8B-B14F-4D97-AF65-F5344CB8AC3E}">
        <p14:creationId xmlns:p14="http://schemas.microsoft.com/office/powerpoint/2010/main" val="1472588056"/>
      </p:ext>
    </p:extLst>
  </p:cSld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1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/>
                                  <p:tgtEl>
                                    <p:spTgt spid="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500" fill="hold"/>
                                  <p:tgtEl>
                                    <p:spTgt spid="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withEffect">
                            <p:stCondLst>
                              <p:cond delay="100"/>
                            </p:stCondLst>
                            <p:childTnLst>
                              <p:set>
                                <p:cBhvr>
                                  <p:cTn id="14" dur="1" fill="hold"/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500" fill="hold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17" dur="1" fill="hold"/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500" fill="hold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20" dur="1" fill="hold"/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500" fill="hold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23" dur="1" fill="hold"/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500" fill="hold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10" presetClass="entr" presetSubtype="0" fill="hold" nodeType="withEffect">
                            <p:stCondLst>
                              <p:cond delay="500"/>
                            </p:stCondLst>
                            <p:childTnLst>
                              <p:set>
                                <p:cBhvr>
                                  <p:cTn id="26" dur="1" fill="hold"/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500" fill="hold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10" presetClass="entr" presetSubtype="0" fill="hold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29" dur="1" fill="hold"/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500" fill="hold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10" presetClass="entr" presetSubtype="0" fill="hold" nodeType="withEffect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32" dur="1" fill="hold"/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500" fill="hold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1210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01CF92-578C-4751-B874-3E863D788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F6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6F2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6F2FF"/>
                </a:solidFill>
                <a:latin typeface="Arial"/>
                <a:ea typeface="Arial"/>
                <a:cs typeface="Arial"/>
              </a:rPr>
              <a:t>Demonstration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1523A9-14F7-43E8-8852-8813F3797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1076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>
                <a:solidFill>
                  <a:srgbClr val="B592E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592E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592E5"/>
                </a:solidFill>
                <a:latin typeface="Arial"/>
                <a:ea typeface="Arial"/>
                <a:cs typeface="Arial"/>
              </a:rPr>
              <a:t>REVIEW AND DELIVERY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FD8220-08E6-4F7D-B198-ABCCBFC81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C4BCD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C4BCD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4BCD1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13383B-382F-4442-ADDF-B07F2ACE8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1450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75" b="1">
                <a:solidFill>
                  <a:srgbClr val="B592E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75" b="1">
                <a:solidFill>
                  <a:srgbClr val="B592E5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B592E5"/>
                </a:solidFill>
                <a:latin typeface="Arial"/>
                <a:ea typeface="Arial"/>
                <a:cs typeface="Arial"/>
              </a:rPr>
              <a:t>A working path from brief to downloadable source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11A88A-3AD4-4CBB-B423-A1A1139D0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52750"/>
            <a:ext cx="61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1">
                <a:solidFill>
                  <a:srgbClr val="B592E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B592E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592E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3D8D0A-BE10-40BE-BB67-79C1F5827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52750"/>
            <a:ext cx="1009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F6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F6F2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6F2FF"/>
                </a:solidFill>
                <a:latin typeface="Arial"/>
                <a:ea typeface="Arial"/>
                <a:cs typeface="Arial"/>
              </a:rPr>
              <a:t>Submit the makeup application brief and review requirements.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9F1E1F-368A-4FF6-862D-72BCEF9C7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67150"/>
            <a:ext cx="61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1">
                <a:solidFill>
                  <a:srgbClr val="B592E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B592E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592E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A463BF-3485-4D8E-BC22-48168355A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867150"/>
            <a:ext cx="1009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F6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F6F2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6F2FF"/>
                </a:solidFill>
                <a:latin typeface="Arial"/>
                <a:ea typeface="Arial"/>
                <a:cs typeface="Arial"/>
              </a:rPr>
              <a:t>Show the custom fields and change a design preference.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4A5983-7A0F-47A1-85B5-E6E05F781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81550"/>
            <a:ext cx="61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1">
                <a:solidFill>
                  <a:srgbClr val="B592E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B592E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592E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A96210-EAC4-49A3-8F68-CC6B03F02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781550"/>
            <a:ext cx="1009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F6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F6F2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6F2FF"/>
                </a:solidFill>
                <a:latin typeface="Arial"/>
                <a:ea typeface="Arial"/>
                <a:cs typeface="Arial"/>
              </a:rPr>
              <a:t>Build, inspect Evidence and download the generated project.</a:t>
            </a:r>
          </a:p>
        </p:txBody>
      </p:sp>
    </p:spTree>
    <p:extLst>
      <p:ext uri="{BB962C8B-B14F-4D97-AF65-F5344CB8AC3E}">
        <p14:creationId xmlns:p14="http://schemas.microsoft.com/office/powerpoint/2010/main" val="2030290500"/>
      </p:ext>
    </p:extLst>
  </p:cSld>
  <p:transition spd="med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1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/>
                                  <p:tgtEl>
                                    <p:spTgt spid="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500" fill="hold"/>
                                  <p:tgtEl>
                                    <p:spTgt spid="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withEffect">
                            <p:stCondLst>
                              <p:cond delay="100"/>
                            </p:stCondLst>
                            <p:childTnLst>
                              <p:set>
                                <p:cBhvr>
                                  <p:cTn id="14" dur="1" fill="hold"/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500" fill="hold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22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17" dur="1" fill="hold"/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8" dur="500" fill="hold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22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20" dur="1" fill="hold"/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1" dur="500" fill="hold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22" presetClass="entr" presetSubtype="0" fill="hold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23" dur="1" fill="hold"/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4" dur="500" fill="hold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22" presetClass="entr" presetSubtype="0" fill="hold" nodeType="withEffect">
                            <p:stCondLst>
                              <p:cond delay="500"/>
                            </p:stCondLst>
                            <p:childTnLst>
                              <p:set>
                                <p:cBhvr>
                                  <p:cTn id="26" dur="1" fill="hold"/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7" dur="500" fill="hold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22" presetClass="entr" presetSubtype="0" fill="hold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29" dur="1" fill="hold"/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30" dur="500" fill="hold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1210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E8C715-E424-4556-886B-2020EE238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F6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6F2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6F2FF"/>
                </a:solidFill>
                <a:latin typeface="Arial"/>
                <a:ea typeface="Arial"/>
                <a:cs typeface="Arial"/>
              </a:rPr>
              <a:t>Jinie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E9EBB7-B643-4830-B778-F8A20F13C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1076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>
                <a:solidFill>
                  <a:srgbClr val="B592E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592E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592E5"/>
                </a:solidFill>
                <a:latin typeface="Arial"/>
                <a:ea typeface="Arial"/>
                <a:cs typeface="Arial"/>
              </a:rPr>
              <a:t>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01F038-3BB6-490B-BBFF-145D03C4F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C4BCD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C4BCD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4BCD1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ED23DF-3EF0-4164-B393-66662CFBA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47875"/>
            <a:ext cx="5334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00" b="1">
                <a:solidFill>
                  <a:srgbClr val="F6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F6F2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6F2FF"/>
                </a:solidFill>
                <a:latin typeface="Arial"/>
                <a:ea typeface="Arial"/>
                <a:cs typeface="Arial"/>
              </a:rPr>
              <a:t>Reviewed requirements.</a:t>
            </a:r>
          </a:p>
          <a:p xmlns:a="http://schemas.openxmlformats.org/drawingml/2006/main">
            <a:pPr>
              <a:defRPr sz="2700" b="1">
                <a:solidFill>
                  <a:srgbClr val="F6F2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6F2FF"/>
                </a:solidFill>
                <a:latin typeface="Arial"/>
                <a:ea typeface="Arial"/>
                <a:cs typeface="Arial"/>
              </a:rPr>
              <a:t>Configurable screens.</a:t>
            </a:r>
          </a:p>
          <a:p xmlns:a="http://schemas.openxmlformats.org/drawingml/2006/main">
            <a:pPr>
              <a:defRPr sz="2700" b="1">
                <a:solidFill>
                  <a:srgbClr val="F6F2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6F2FF"/>
                </a:solidFill>
                <a:latin typeface="Arial"/>
                <a:ea typeface="Arial"/>
                <a:cs typeface="Arial"/>
              </a:rPr>
              <a:t>Exportable React Native source.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FECAA6-ABBA-434D-966A-5B4D14D818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6f9f72c9d04933"/>
          <a:stretch xmlns:a="http://schemas.openxmlformats.org/drawingml/2006/main"/>
        </p:blipFill>
        <p:spPr>
          <a:xfrm xmlns:a="http://schemas.openxmlformats.org/drawingml/2006/main">
            <a:off x="6381750" y="1905182"/>
            <a:ext cx="5200650" cy="292381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57FEFA-0F1F-4E70-A8E5-6BC21A230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95300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C4BCD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C4BCD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4BCD1"/>
                </a:solidFill>
                <a:latin typeface="Arial"/>
                <a:ea typeface="Arial"/>
                <a:cs typeface="Arial"/>
              </a:rPr>
              <a:t>Promotional concept</a:t>
            </a:r>
          </a:p>
        </p:txBody>
      </p:sp>
    </p:spTree>
    <p:extLst>
      <p:ext uri="{BB962C8B-B14F-4D97-AF65-F5344CB8AC3E}">
        <p14:creationId xmlns:p14="http://schemas.microsoft.com/office/powerpoint/2010/main" val="471075941"/>
      </p:ext>
    </p:extLst>
  </p:cSld>
  <p:transition spd="med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1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/>
                                  <p:tgtEl>
                                    <p:spTgt spid="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500" fill="hold"/>
                                  <p:tgtEl>
                                    <p:spTgt spid="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withEffect">
                            <p:stCondLst>
                              <p:cond delay="100"/>
                            </p:stCondLst>
                            <p:childTnLst>
                              <p:set>
                                <p:cBhvr>
                                  <p:cTn id="14" dur="1" fill="hold"/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500" fill="hold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2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17" dur="1" fill="hold"/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lide(fromBottom)">
                                <p:cBhvr>
                                  <p:cTn id="18" dur="500" fill="hold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2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20" dur="1" fill="hold"/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lide(fromBottom)">
                                <p:cBhvr>
                                  <p:cTn id="21" dur="500" fill="hold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2" presetClass="entr" presetSubtype="0" fill="hold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23" dur="1" fill="hold"/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lide(fromBottom)">
                                <p:cBhvr>
                                  <p:cTn id="24" dur="500" fill="hold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2" presetClass="entr" presetSubtype="0" fill="hold" nodeType="withEffect">
                            <p:stCondLst>
                              <p:cond delay="500"/>
                            </p:stCondLst>
                            <p:childTnLst>
                              <p:set>
                                <p:cBhvr>
                                  <p:cTn id="26" dur="1" fill="hold"/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lide(fromBottom)">
                                <p:cBhvr>
                                  <p:cTn id="27" dur="500" fill="hold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4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48FDB5-A1A6-471D-9AD7-D020D053E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2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27203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72033"/>
                </a:solidFill>
                <a:latin typeface="Arial"/>
                <a:ea typeface="Arial"/>
                <a:cs typeface="Arial"/>
              </a:rPr>
              <a:t>Technical stack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0888F7-F17E-4211-AEC0-49C3B637F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1076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>
                <a:solidFill>
                  <a:srgbClr val="70459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70459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0459E"/>
                </a:solidFill>
                <a:latin typeface="Arial"/>
                <a:ea typeface="Arial"/>
                <a:cs typeface="Arial"/>
              </a:rPr>
              <a:t>BACKUP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80E0C7-88EE-4A95-A141-55C32905B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65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65B7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5B76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B16F61-5E1E-46FF-97F2-982524A3A7AB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7353300"/>
              </a:tblGrid>
              <a:tr h="598714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Area</a:t>
                      </a:r>
                    </a:p>
                  </a:txBody>
                  <a:tcPr marL="114300" marR="114300" marT="95250" marB="76200">
                    <a:solidFill>
                      <a:srgbClr val="7045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Technology</a:t>
                      </a:r>
                    </a:p>
                  </a:txBody>
                  <a:tcPr marL="114300" marR="114300" marT="95250" marB="76200">
                    <a:solidFill>
                      <a:srgbClr val="70459E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72033"/>
                          </a:solidFill>
                          <a:latin typeface="Arial"/>
                          <a:ea typeface="Arial"/>
                          <a:cs typeface="Arial"/>
                        </a:rPr>
                        <a:t>Workspace</a:t>
                      </a:r>
                    </a:p>
                  </a:txBody>
                  <a:tcPr marL="114300" marR="114300" marT="9525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72033"/>
                          </a:solidFill>
                          <a:latin typeface="Arial"/>
                          <a:ea typeface="Arial"/>
                          <a:cs typeface="Arial"/>
                        </a:rPr>
                        <a:t>React, TypeScript, Vite, CSS</a:t>
                      </a:r>
                    </a:p>
                  </a:txBody>
                  <a:tcPr marL="114300" marR="114300" marT="95250" marB="76200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72033"/>
                          </a:solidFill>
                          <a:latin typeface="Arial"/>
                          <a:ea typeface="Arial"/>
                          <a:cs typeface="Arial"/>
                        </a:rPr>
                        <a:t>Backend and validation</a:t>
                      </a:r>
                    </a:p>
                  </a:txBody>
                  <a:tcPr marL="114300" marR="114300" marT="95250" marB="76200">
                    <a:solidFill>
                      <a:srgbClr val="EEE8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72033"/>
                          </a:solidFill>
                          <a:latin typeface="Arial"/>
                          <a:ea typeface="Arial"/>
                          <a:cs typeface="Arial"/>
                        </a:rPr>
                        <a:t>Python, FastAPI, Pydantic</a:t>
                      </a:r>
                    </a:p>
                  </a:txBody>
                  <a:tcPr marL="114300" marR="114300" marT="95250" marB="76200">
                    <a:solidFill>
                      <a:srgbClr val="EEE8F6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72033"/>
                          </a:solidFill>
                          <a:latin typeface="Arial"/>
                          <a:ea typeface="Arial"/>
                          <a:cs typeface="Arial"/>
                        </a:rPr>
                        <a:t>Generated app</a:t>
                      </a:r>
                    </a:p>
                  </a:txBody>
                  <a:tcPr marL="114300" marR="114300" marT="9525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72033"/>
                          </a:solidFill>
                          <a:latin typeface="Arial"/>
                          <a:ea typeface="Arial"/>
                          <a:cs typeface="Arial"/>
                        </a:rPr>
                        <a:t>React Native, JavaScript, Expo</a:t>
                      </a:r>
                    </a:p>
                  </a:txBody>
                  <a:tcPr marL="114300" marR="114300" marT="95250" marB="76200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72033"/>
                          </a:solidFill>
                          <a:latin typeface="Arial"/>
                          <a:ea typeface="Arial"/>
                          <a:cs typeface="Arial"/>
                        </a:rPr>
                        <a:t>Models and retrieval</a:t>
                      </a:r>
                    </a:p>
                  </a:txBody>
                  <a:tcPr marL="114300" marR="114300" marT="95250" marB="76200">
                    <a:solidFill>
                      <a:srgbClr val="EEE8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72033"/>
                          </a:solidFill>
                          <a:latin typeface="Arial"/>
                          <a:ea typeface="Arial"/>
                          <a:cs typeface="Arial"/>
                        </a:rPr>
                        <a:t>PyTorch, Transformers, scikit-learn</a:t>
                      </a:r>
                    </a:p>
                  </a:txBody>
                  <a:tcPr marL="114300" marR="114300" marT="95250" marB="76200">
                    <a:solidFill>
                      <a:srgbClr val="EEE8F6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72033"/>
                          </a:solidFill>
                          <a:latin typeface="Arial"/>
                          <a:ea typeface="Arial"/>
                          <a:cs typeface="Arial"/>
                        </a:rPr>
                        <a:t>Build and documents</a:t>
                      </a:r>
                    </a:p>
                  </a:txBody>
                  <a:tcPr marL="114300" marR="114300" marT="9525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72033"/>
                          </a:solidFill>
                          <a:latin typeface="Arial"/>
                          <a:ea typeface="Arial"/>
                          <a:cs typeface="Arial"/>
                        </a:rPr>
                        <a:t>esbuild, ReportLab, Python zipfile</a:t>
                      </a:r>
                    </a:p>
                  </a:txBody>
                  <a:tcPr marL="114300" marR="114300" marT="95250" marB="76200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72033"/>
                          </a:solidFill>
                          <a:latin typeface="Arial"/>
                          <a:ea typeface="Arial"/>
                          <a:cs typeface="Arial"/>
                        </a:rPr>
                        <a:t>Storage and hosting</a:t>
                      </a:r>
                    </a:p>
                  </a:txBody>
                  <a:tcPr marL="114300" marR="114300" marT="95250" marB="76200">
                    <a:solidFill>
                      <a:srgbClr val="EEE8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72033"/>
                          </a:solidFill>
                          <a:latin typeface="Arial"/>
                          <a:ea typeface="Arial"/>
                          <a:cs typeface="Arial"/>
                        </a:rPr>
                        <a:t>SQLite active; optional MongoDB; Firebase Hosting</a:t>
                      </a:r>
                    </a:p>
                  </a:txBody>
                  <a:tcPr marL="114300" marR="114300" marT="95250" marB="76200">
                    <a:solidFill>
                      <a:srgbClr val="EEE8F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2269196"/>
      </p:ext>
    </p:extLst>
  </p:cSld>
  <p:transition spd="med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1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/>
                                  <p:tgtEl>
                                    <p:spTgt spid="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500" fill="hold"/>
                                  <p:tgtEl>
                                    <p:spTgt spid="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withEffect">
                            <p:stCondLst>
                              <p:cond delay="100"/>
                            </p:stCondLst>
                            <p:childTnLst>
                              <p:set>
                                <p:cBhvr>
                                  <p:cTn id="14" dur="1" fill="hold"/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500" fill="hold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17" dur="1" fill="hold"/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500" fill="hold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20" dur="1" fill="hold"/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500" fill="hold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1210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864117-71BD-475B-9B46-C0B760910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F6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6F2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6F2FF"/>
                </a:solidFill>
                <a:latin typeface="Arial"/>
                <a:ea typeface="Arial"/>
                <a:cs typeface="Arial"/>
              </a:rPr>
              <a:t>Authentication and storage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0D38B2-AF44-421D-A353-3F4E3DA4A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1076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>
                <a:solidFill>
                  <a:srgbClr val="B592E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592E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592E5"/>
                </a:solidFill>
                <a:latin typeface="Arial"/>
                <a:ea typeface="Arial"/>
                <a:cs typeface="Arial"/>
              </a:rPr>
              <a:t>BACKUP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5FF537-8DF7-4359-BD75-E85C00594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C4BCD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C4BCD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4BCD1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6559A8-02F7-4A36-8B0F-4C1015081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62125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1">
                <a:solidFill>
                  <a:srgbClr val="B592E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B592E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B592E5"/>
                </a:solidFill>
                <a:latin typeface="Arial"/>
                <a:ea typeface="Arial"/>
                <a:cs typeface="Arial"/>
              </a:rPr>
              <a:t>Authentication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24E3D3-A88F-4A7D-AAFA-37D5CC06E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762125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1">
                <a:solidFill>
                  <a:srgbClr val="B592E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B592E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B592E5"/>
                </a:solidFill>
                <a:latin typeface="Arial"/>
                <a:ea typeface="Arial"/>
                <a:cs typeface="Arial"/>
              </a:rPr>
              <a:t>Data storage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175978-005B-4164-85DC-1E1C381EE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38400"/>
            <a:ext cx="5000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F6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6F2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6F2FF"/>
                </a:solidFill>
                <a:latin typeface="Arial"/>
                <a:ea typeface="Arial"/>
                <a:cs typeface="Arial"/>
              </a:rPr>
              <a:t>Salted PBKDF2-HMAC-SHA256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3FD0DF-9DB8-4311-A691-2DC881EC5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76600"/>
            <a:ext cx="5000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F6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6F2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6F2FF"/>
                </a:solidFill>
                <a:latin typeface="Arial"/>
                <a:ea typeface="Arial"/>
                <a:cs typeface="Arial"/>
              </a:rPr>
              <a:t>100,000 password-derivation iterations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AA0A89-0B69-420F-A268-EB590BA7E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14800"/>
            <a:ext cx="5000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F6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6F2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6F2FF"/>
                </a:solidFill>
                <a:latin typeface="Arial"/>
                <a:ea typeface="Arial"/>
                <a:cs typeface="Arial"/>
              </a:rPr>
              <a:t>Random tokens stored in backend memory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C22B37-BDD5-4C29-B5D4-21DD5D4D9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38400"/>
            <a:ext cx="5000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F6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6F2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6F2FF"/>
                </a:solidFill>
                <a:latin typeface="Arial"/>
                <a:ea typeface="Arial"/>
                <a:cs typeface="Arial"/>
              </a:rPr>
              <a:t>Project records in SQLite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37B596-131B-4BA3-A0AC-CDCF7928A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276600"/>
            <a:ext cx="5000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F6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6F2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6F2FF"/>
                </a:solidFill>
                <a:latin typeface="Arial"/>
                <a:ea typeface="Arial"/>
                <a:cs typeface="Arial"/>
              </a:rPr>
              <a:t>Accounts in a separate JSON file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E7161E-719B-4B12-B8AC-0B45999A1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114800"/>
            <a:ext cx="5000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F6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6F2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6F2FF"/>
                </a:solidFill>
                <a:latin typeface="Arial"/>
                <a:ea typeface="Arial"/>
                <a:cs typeface="Arial"/>
              </a:rPr>
              <a:t>Generated files in runtime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FFEFE8-2501-47BB-9D7A-CB3AC660B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2455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C4BCD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C4BCD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4BCD1"/>
                </a:solidFill>
                <a:latin typeface="Arial"/>
                <a:ea typeface="Arial"/>
                <a:cs typeface="Arial"/>
              </a:rPr>
              <a:t>Remaining security work includes project ownership checks and stronger session/account storage.</a:t>
            </a:r>
          </a:p>
        </p:txBody>
      </p:sp>
    </p:spTree>
    <p:extLst>
      <p:ext uri="{BB962C8B-B14F-4D97-AF65-F5344CB8AC3E}">
        <p14:creationId xmlns:p14="http://schemas.microsoft.com/office/powerpoint/2010/main" val="2122802562"/>
      </p:ext>
    </p:extLst>
  </p:cSld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1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/>
                                  <p:tgtEl>
                                    <p:spTgt spid="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500" fill="hold"/>
                                  <p:tgtEl>
                                    <p:spTgt spid="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withEffect">
                            <p:stCondLst>
                              <p:cond delay="100"/>
                            </p:stCondLst>
                            <p:childTnLst>
                              <p:set>
                                <p:cBhvr>
                                  <p:cTn id="14" dur="1" fill="hold"/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500" fill="hold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22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17" dur="1" fill="hold"/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8" dur="500" fill="hold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22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20" dur="1" fill="hold"/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1" dur="500" fill="hold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22" presetClass="entr" presetSubtype="0" fill="hold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23" dur="1" fill="hold"/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4" dur="500" fill="hold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22" presetClass="entr" presetSubtype="0" fill="hold" nodeType="withEffect">
                            <p:stCondLst>
                              <p:cond delay="500"/>
                            </p:stCondLst>
                            <p:childTnLst>
                              <p:set>
                                <p:cBhvr>
                                  <p:cTn id="26" dur="1" fill="hold"/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7" dur="500" fill="hold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22" presetClass="entr" presetSubtype="0" fill="hold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29" dur="1" fill="hold"/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30" dur="500" fill="hold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22" presetClass="entr" presetSubtype="0" fill="hold" nodeType="withEffect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32" dur="1" fill="hold"/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33" dur="500" fill="hold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presetID="22" presetClass="entr" presetSubtype="0" fill="hold" nodeType="withEffect">
                            <p:stCondLst>
                              <p:cond delay="800"/>
                            </p:stCondLst>
                            <p:childTnLst>
                              <p:set>
                                <p:cBhvr>
                                  <p:cTn id="35" dur="1" fill="hold"/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36" dur="500" fill="hold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7" presetID="22" presetClass="entr" presetSubtype="0" fill="hold" nodeType="withEffect">
                            <p:stCondLst>
                              <p:cond delay="900"/>
                            </p:stCondLst>
                            <p:childTnLst>
                              <p:set>
                                <p:cBhvr>
                                  <p:cTn id="38" dur="1" fill="hold"/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39" dur="500" fill="hold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0" presetID="22" presetClass="entr" presetSubtype="0" fill="hold" nodeType="withEffect">
                            <p:stCondLst>
                              <p:cond delay="1000"/>
                            </p:stCondLst>
                            <p:childTnLst>
                              <p:set>
                                <p:cBhvr>
                                  <p:cTn id="41" dur="1" fill="hold"/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42" dur="500" fill="hold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3" presetID="22" presetClass="entr" presetSubtype="0" fill="hold" nodeType="withEffect">
                            <p:stCondLst>
                              <p:cond delay="1000"/>
                            </p:stCondLst>
                            <p:childTnLst>
                              <p:set>
                                <p:cBhvr>
                                  <p:cTn id="44" dur="1" fill="hold"/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45" dur="500" fill="hold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4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7F804D-1DF7-4B79-9556-EAFD46D39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2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27203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72033"/>
                </a:solidFill>
                <a:latin typeface="Arial"/>
                <a:ea typeface="Arial"/>
                <a:cs typeface="Arial"/>
              </a:rPr>
              <a:t>Limitations and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418B18-0AEB-4238-97DB-C15467F45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1076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>
                <a:solidFill>
                  <a:srgbClr val="70459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70459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0459E"/>
                </a:solidFill>
                <a:latin typeface="Arial"/>
                <a:ea typeface="Arial"/>
                <a:cs typeface="Arial"/>
              </a:rPr>
              <a:t>BACKUP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283AA2-5563-4EFE-A193-650B6BD99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65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65B7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5B76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2F803C-9AD4-4EE1-8963-1806D5627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19250"/>
            <a:ext cx="61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1">
                <a:solidFill>
                  <a:srgbClr val="70459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70459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0459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C08114-C3B7-48C1-9CE1-23EF06D37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619250"/>
            <a:ext cx="1009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7203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72033"/>
                </a:solidFill>
                <a:latin typeface="Arial"/>
                <a:ea typeface="Arial"/>
                <a:cs typeface="Arial"/>
              </a:rPr>
              <a:t>Custom information screens do not implement remote business services.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03C994-82A6-4BA2-AFAD-2C1BDF0A7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28875"/>
            <a:ext cx="61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1">
                <a:solidFill>
                  <a:srgbClr val="70459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70459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0459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1E13B7-5DFD-4D30-ABCE-310330989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28875"/>
            <a:ext cx="1009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7203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72033"/>
                </a:solidFill>
                <a:latin typeface="Arial"/>
                <a:ea typeface="Arial"/>
                <a:cs typeface="Arial"/>
              </a:rPr>
              <a:t>The current datasets need broader real-world evaluation.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D060D0-F0B9-4B45-AEF2-478DB88F0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0"/>
            <a:ext cx="61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1">
                <a:solidFill>
                  <a:srgbClr val="70459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70459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0459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15BB37-2781-4C1C-9790-F2B7F708C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238500"/>
            <a:ext cx="1009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7203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72033"/>
                </a:solidFill>
                <a:latin typeface="Arial"/>
                <a:ea typeface="Arial"/>
                <a:cs typeface="Arial"/>
              </a:rPr>
              <a:t>CodeT5 candidates do not replace every delivered component.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1160BF-C130-4A1F-A6C7-733CCC2E9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48125"/>
            <a:ext cx="61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1">
                <a:solidFill>
                  <a:srgbClr val="70459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70459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0459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4F8866-407E-456F-A720-3CEEABC78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48125"/>
            <a:ext cx="1009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7203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72033"/>
                </a:solidFill>
                <a:latin typeface="Arial"/>
                <a:ea typeface="Arial"/>
                <a:cs typeface="Arial"/>
              </a:rPr>
              <a:t>Default Preview is an HTML design view, not native-device proof.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F0BCCD-FE05-4E72-8696-421869FFA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57750"/>
            <a:ext cx="61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1">
                <a:solidFill>
                  <a:srgbClr val="70459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70459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0459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C84D92-FD5B-4AD0-868C-FF808CB7E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857750"/>
            <a:ext cx="1009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7203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72033"/>
                </a:solidFill>
                <a:latin typeface="Arial"/>
                <a:ea typeface="Arial"/>
                <a:cs typeface="Arial"/>
              </a:rPr>
              <a:t>NFR targets and successful compilation need further verification.</a:t>
            </a:r>
          </a:p>
        </p:txBody>
      </p:sp>
    </p:spTree>
    <p:extLst>
      <p:ext uri="{BB962C8B-B14F-4D97-AF65-F5344CB8AC3E}">
        <p14:creationId xmlns:p14="http://schemas.microsoft.com/office/powerpoint/2010/main" val="1030446016"/>
      </p:ext>
    </p:extLst>
  </p:cSld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1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/>
                                  <p:tgtEl>
                                    <p:spTgt spid="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500" fill="hold"/>
                                  <p:tgtEl>
                                    <p:spTgt spid="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withEffect">
                            <p:stCondLst>
                              <p:cond delay="100"/>
                            </p:stCondLst>
                            <p:childTnLst>
                              <p:set>
                                <p:cBhvr>
                                  <p:cTn id="14" dur="1" fill="hold"/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500" fill="hold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2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17" dur="1" fill="hold"/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lide(fromBottom)">
                                <p:cBhvr>
                                  <p:cTn id="18" dur="500" fill="hold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2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20" dur="1" fill="hold"/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lide(fromBottom)">
                                <p:cBhvr>
                                  <p:cTn id="21" dur="500" fill="hold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2" presetClass="entr" presetSubtype="0" fill="hold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23" dur="1" fill="hold"/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lide(fromBottom)">
                                <p:cBhvr>
                                  <p:cTn id="24" dur="500" fill="hold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2" presetClass="entr" presetSubtype="0" fill="hold" nodeType="withEffect">
                            <p:stCondLst>
                              <p:cond delay="500"/>
                            </p:stCondLst>
                            <p:childTnLst>
                              <p:set>
                                <p:cBhvr>
                                  <p:cTn id="26" dur="1" fill="hold"/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lide(fromBottom)">
                                <p:cBhvr>
                                  <p:cTn id="27" dur="500" fill="hold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2" presetClass="entr" presetSubtype="0" fill="hold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29" dur="1" fill="hold"/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lide(fromBottom)">
                                <p:cBhvr>
                                  <p:cTn id="30" dur="500" fill="hold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2" presetClass="entr" presetSubtype="0" fill="hold" nodeType="withEffect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32" dur="1" fill="hold"/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lide(fromBottom)">
                                <p:cBhvr>
                                  <p:cTn id="33" dur="500" fill="hold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2026-10-03T09:26:37.7110000Z</dcterms:created>
  <dcterms:modified xsi:type="dcterms:W3CDTF">2026-10-03T09:26:37.7110000Z</dcterms:modified>
</coreProperties>
</file>